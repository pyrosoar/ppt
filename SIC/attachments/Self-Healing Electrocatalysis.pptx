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tags/tag7.xml" ContentType="application/vnd.openxmlformats-officedocument.presentationml.tags+xml"/>
  <Override PartName="/ppt/notesSlides/notesSlide6.xml" ContentType="application/vnd.openxmlformats-officedocument.presentationml.notesSlide+xml"/>
  <Override PartName="/ppt/tags/tag8.xml" ContentType="application/vnd.openxmlformats-officedocument.presentationml.tags+xml"/>
  <Override PartName="/ppt/notesSlides/notesSlide7.xml" ContentType="application/vnd.openxmlformats-officedocument.presentationml.notesSlide+xml"/>
  <Override PartName="/ppt/tags/tag9.xml" ContentType="application/vnd.openxmlformats-officedocument.presentationml.tags+xml"/>
  <Override PartName="/ppt/notesSlides/notesSlide8.xml" ContentType="application/vnd.openxmlformats-officedocument.presentationml.notesSlide+xml"/>
  <Override PartName="/ppt/tags/tag10.xml" ContentType="application/vnd.openxmlformats-officedocument.presentationml.tags+xml"/>
  <Override PartName="/ppt/notesSlides/notesSlide9.xml" ContentType="application/vnd.openxmlformats-officedocument.presentationml.notesSlide+xml"/>
  <Override PartName="/ppt/tags/tag11.xml" ContentType="application/vnd.openxmlformats-officedocument.presentationml.tags+xml"/>
  <Override PartName="/ppt/notesSlides/notesSlide10.xml" ContentType="application/vnd.openxmlformats-officedocument.presentationml.notesSlide+xml"/>
  <Override PartName="/ppt/tags/tag12.xml" ContentType="application/vnd.openxmlformats-officedocument.presentationml.tags+xml"/>
  <Override PartName="/ppt/notesSlides/notesSlide11.xml" ContentType="application/vnd.openxmlformats-officedocument.presentationml.notesSlide+xml"/>
  <Override PartName="/ppt/tags/tag13.xml" ContentType="application/vnd.openxmlformats-officedocument.presentationml.tags+xml"/>
  <Override PartName="/ppt/notesSlides/notesSlide12.xml" ContentType="application/vnd.openxmlformats-officedocument.presentationml.notesSlide+xml"/>
  <Override PartName="/ppt/tags/tag14.xml" ContentType="application/vnd.openxmlformats-officedocument.presentationml.tags+xml"/>
  <Override PartName="/ppt/notesSlides/notesSlide13.xml" ContentType="application/vnd.openxmlformats-officedocument.presentationml.notesSlide+xml"/>
  <Override PartName="/ppt/tags/tag15.xml" ContentType="application/vnd.openxmlformats-officedocument.presentationml.tags+xml"/>
  <Override PartName="/ppt/notesSlides/notesSlide14.xml" ContentType="application/vnd.openxmlformats-officedocument.presentationml.notesSlide+xml"/>
  <Override PartName="/ppt/tags/tag16.xml" ContentType="application/vnd.openxmlformats-officedocument.presentationml.tags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7"/>
  </p:notesMasterIdLst>
  <p:sldIdLst>
    <p:sldId id="256" r:id="rId2"/>
    <p:sldId id="272" r:id="rId3"/>
    <p:sldId id="257" r:id="rId4"/>
    <p:sldId id="269" r:id="rId5"/>
    <p:sldId id="258" r:id="rId6"/>
    <p:sldId id="260" r:id="rId7"/>
    <p:sldId id="261" r:id="rId8"/>
    <p:sldId id="263" r:id="rId9"/>
    <p:sldId id="270" r:id="rId10"/>
    <p:sldId id="271" r:id="rId11"/>
    <p:sldId id="264" r:id="rId12"/>
    <p:sldId id="265" r:id="rId13"/>
    <p:sldId id="266" r:id="rId14"/>
    <p:sldId id="267" r:id="rId15"/>
    <p:sldId id="268" r:id="rId16"/>
  </p:sldIdLst>
  <p:sldSz cx="12192000" cy="6858000"/>
  <p:notesSz cx="6858000" cy="9144000"/>
  <p:embeddedFontLst>
    <p:embeddedFont>
      <p:font typeface="Arial Narrow" panose="020B0606020202030204" pitchFamily="34" charset="0"/>
      <p:regular r:id="rId18"/>
      <p:bold r:id="rId19"/>
      <p:italic r:id="rId20"/>
      <p:boldItalic r:id="rId21"/>
    </p:embeddedFont>
    <p:embeddedFont>
      <p:font typeface="Open Serif Semibold" panose="02060802040506020404" pitchFamily="18" charset="0"/>
      <p:regular r:id="rId22"/>
    </p:embeddedFont>
    <p:embeddedFont>
      <p:font typeface="Playfair Display" panose="00000500000000000000" pitchFamily="2" charset="0"/>
      <p:regular r:id="rId23"/>
      <p:bold r:id="rId24"/>
      <p:italic r:id="rId25"/>
      <p:boldItalic r:id="rId26"/>
    </p:embeddedFont>
    <p:embeddedFont>
      <p:font typeface="Public Sans" panose="02010600030101010101" charset="0"/>
      <p:regular r:id="rId27"/>
      <p:bold r:id="rId28"/>
      <p:italic r:id="rId29"/>
      <p:boldItalic r:id="rId30"/>
    </p:embeddedFont>
  </p:embeddedFontLst>
  <p:custDataLst>
    <p:tags r:id="rId31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5171"/>
    <a:srgbClr val="78BFBF"/>
    <a:srgbClr val="EABB4D"/>
    <a:srgbClr val="00B050"/>
    <a:srgbClr val="002B49"/>
    <a:srgbClr val="D64493"/>
    <a:srgbClr val="87A0A2"/>
    <a:srgbClr val="AAABBF"/>
    <a:srgbClr val="C8F4FF"/>
    <a:srgbClr val="3C85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6032" autoAdjust="0"/>
  </p:normalViewPr>
  <p:slideViewPr>
    <p:cSldViewPr snapToGrid="0">
      <p:cViewPr varScale="1">
        <p:scale>
          <a:sx n="111" d="100"/>
          <a:sy n="111" d="100"/>
        </p:scale>
        <p:origin x="768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52296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7790AB30-8DA3-243A-896A-03EDC1986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AA3D44F9-30C1-0A3D-A57A-EC0964A00BB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4E8671FB-B0DA-60C2-F10C-092883B35C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2164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>
          <a:extLst>
            <a:ext uri="{FF2B5EF4-FFF2-40B4-BE49-F238E27FC236}">
              <a16:creationId xmlns:a16="http://schemas.microsoft.com/office/drawing/2014/main" id="{F108CB99-DDD4-1AE9-A638-7521DAA4A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8:notes">
            <a:extLst>
              <a:ext uri="{FF2B5EF4-FFF2-40B4-BE49-F238E27FC236}">
                <a16:creationId xmlns:a16="http://schemas.microsoft.com/office/drawing/2014/main" id="{7401AFE1-0852-434D-FB44-1E4CB6B32F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8:notes">
            <a:extLst>
              <a:ext uri="{FF2B5EF4-FFF2-40B4-BE49-F238E27FC236}">
                <a16:creationId xmlns:a16="http://schemas.microsoft.com/office/drawing/2014/main" id="{60463719-2858-C510-63D1-6F09186EB54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895847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>
          <a:extLst>
            <a:ext uri="{FF2B5EF4-FFF2-40B4-BE49-F238E27FC236}">
              <a16:creationId xmlns:a16="http://schemas.microsoft.com/office/drawing/2014/main" id="{7FB66C5F-86BC-A085-5B2F-F710B422B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8:notes">
            <a:extLst>
              <a:ext uri="{FF2B5EF4-FFF2-40B4-BE49-F238E27FC236}">
                <a16:creationId xmlns:a16="http://schemas.microsoft.com/office/drawing/2014/main" id="{999E7FEA-1587-0892-7C5C-1094B8DEA0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8:notes">
            <a:extLst>
              <a:ext uri="{FF2B5EF4-FFF2-40B4-BE49-F238E27FC236}">
                <a16:creationId xmlns:a16="http://schemas.microsoft.com/office/drawing/2014/main" id="{7119EF8D-A166-D0C3-5B55-1064D80F9F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53830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5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6" Type="http://schemas.openxmlformats.org/officeDocument/2006/relationships/image" Target="../media/image6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14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6" Type="http://schemas.openxmlformats.org/officeDocument/2006/relationships/image" Target="../media/image13.png"/><Relationship Id="rId11" Type="http://schemas.openxmlformats.org/officeDocument/2006/relationships/image" Target="../media/image18.emf"/><Relationship Id="rId5" Type="http://schemas.openxmlformats.org/officeDocument/2006/relationships/image" Target="../media/image12.png"/><Relationship Id="rId10" Type="http://schemas.openxmlformats.org/officeDocument/2006/relationships/image" Target="../media/image17.emf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17.emf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5" Type="http://schemas.openxmlformats.org/officeDocument/2006/relationships/image" Target="../media/image28.emf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Relationship Id="rId14" Type="http://schemas.openxmlformats.org/officeDocument/2006/relationships/image" Target="../media/image18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Relationship Id="rId5" Type="http://schemas.openxmlformats.org/officeDocument/2006/relationships/image" Target="../media/image30.emf"/><Relationship Id="rId4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.xml"/><Relationship Id="rId4" Type="http://schemas.openxmlformats.org/officeDocument/2006/relationships/image" Target="../media/image3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7" Type="http://schemas.openxmlformats.org/officeDocument/2006/relationships/image" Target="../media/image37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7" Type="http://schemas.openxmlformats.org/officeDocument/2006/relationships/image" Target="../media/image4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6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429500" y="-952500"/>
            <a:ext cx="571500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762000" y="1645290"/>
            <a:ext cx="6570821" cy="1760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00" b="1" i="0" u="none" strike="noStrike" cap="none" dirty="0">
                <a:solidFill>
                  <a:srgbClr val="002B49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Healing Through 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6300" b="1" i="0" u="none" strike="noStrike" cap="none" dirty="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Chemistry</a:t>
            </a:r>
            <a:endParaRPr dirty="0"/>
          </a:p>
        </p:txBody>
      </p:sp>
      <p:sp>
        <p:nvSpPr>
          <p:cNvPr id="86" name="Google Shape;86;p13"/>
          <p:cNvSpPr txBox="1"/>
          <p:nvPr/>
        </p:nvSpPr>
        <p:spPr>
          <a:xfrm>
            <a:off x="762001" y="3857637"/>
            <a:ext cx="4676274" cy="904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008489"/>
                </a:solidFill>
                <a:latin typeface="Public Sans"/>
                <a:ea typeface="Public Sans"/>
                <a:cs typeface="Public Sans"/>
                <a:sym typeface="Public Sans"/>
              </a:rPr>
              <a:t>Self-Repairing Electrocatalysis for Fluctuation Resilience</a:t>
            </a:r>
            <a:endParaRPr dirty="0"/>
          </a:p>
        </p:txBody>
      </p:sp>
      <p:sp>
        <p:nvSpPr>
          <p:cNvPr id="88" name="Google Shape;88;p13"/>
          <p:cNvSpPr txBox="1"/>
          <p:nvPr/>
        </p:nvSpPr>
        <p:spPr>
          <a:xfrm>
            <a:off x="761999" y="5067287"/>
            <a:ext cx="3724275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0" i="0" u="none" strike="noStrike" cap="none" dirty="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Lin Zhuocheng</a:t>
            </a:r>
            <a:endParaRPr sz="2000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894A6DCD-FEE9-9B09-E168-6A867117853F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81" r="17850"/>
          <a:stretch/>
        </p:blipFill>
        <p:spPr>
          <a:xfrm>
            <a:off x="10339136" y="236563"/>
            <a:ext cx="1591409" cy="1408727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6A48A51D-3218-50A0-E9E4-BA09703ADB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176" y="399708"/>
            <a:ext cx="8169648" cy="605858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1397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990725"/>
            <a:ext cx="50482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762000" y="571500"/>
            <a:ext cx="10668000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2850" b="1" dirty="0">
                <a:solidFill>
                  <a:srgbClr val="002B49"/>
                </a:solidFill>
                <a:latin typeface="Public Sans"/>
                <a:ea typeface="Public Sans"/>
                <a:cs typeface="Public Sans"/>
                <a:sym typeface="Public Sans"/>
              </a:rPr>
              <a:t>WATER ELECTROLISIS</a:t>
            </a:r>
            <a:endParaRPr dirty="0"/>
          </a:p>
        </p:txBody>
      </p:sp>
      <p:sp>
        <p:nvSpPr>
          <p:cNvPr id="95" name="Google Shape;95;p14"/>
          <p:cNvSpPr/>
          <p:nvPr/>
        </p:nvSpPr>
        <p:spPr>
          <a:xfrm>
            <a:off x="762000" y="1095375"/>
            <a:ext cx="10668000" cy="28575"/>
          </a:xfrm>
          <a:prstGeom prst="rect">
            <a:avLst/>
          </a:prstGeom>
          <a:solidFill>
            <a:srgbClr val="00848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50" name="Picture 2" descr="the growth of wind and solar energyminute">
            <a:extLst>
              <a:ext uri="{FF2B5EF4-FFF2-40B4-BE49-F238E27FC236}">
                <a16:creationId xmlns:a16="http://schemas.microsoft.com/office/drawing/2014/main" id="{B7FDEC9B-69E8-ADC8-C8FA-51628F8AFD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5F5F5"/>
              </a:clrFrom>
              <a:clrTo>
                <a:srgbClr val="F5F5F5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4398" y="1123950"/>
            <a:ext cx="5675142" cy="5675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water electrolysis process">
            <a:extLst>
              <a:ext uri="{FF2B5EF4-FFF2-40B4-BE49-F238E27FC236}">
                <a16:creationId xmlns:a16="http://schemas.microsoft.com/office/drawing/2014/main" id="{2060A0E0-7DF5-5DA1-D39C-180D67E3B8B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296"/>
          <a:stretch>
            <a:fillRect/>
          </a:stretch>
        </p:blipFill>
        <p:spPr bwMode="auto">
          <a:xfrm>
            <a:off x="762000" y="1449412"/>
            <a:ext cx="4611858" cy="3482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矩形: 圆角 1">
            <a:extLst>
              <a:ext uri="{FF2B5EF4-FFF2-40B4-BE49-F238E27FC236}">
                <a16:creationId xmlns:a16="http://schemas.microsoft.com/office/drawing/2014/main" id="{BD75D157-6941-14BB-C786-94FDAA982397}"/>
              </a:ext>
            </a:extLst>
          </p:cNvPr>
          <p:cNvSpPr/>
          <p:nvPr/>
        </p:nvSpPr>
        <p:spPr>
          <a:xfrm>
            <a:off x="876886" y="5190977"/>
            <a:ext cx="4382086" cy="893299"/>
          </a:xfrm>
          <a:prstGeom prst="roundRect">
            <a:avLst/>
          </a:prstGeom>
          <a:solidFill>
            <a:srgbClr val="C8F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rgbClr val="3C85A5"/>
                </a:solidFill>
                <a:latin typeface="Open Serif Semibold" panose="02060802040506020404" pitchFamily="18" charset="0"/>
              </a:rPr>
              <a:t>2 H₂O(l) </a:t>
            </a:r>
            <a:r>
              <a:rPr lang="zh-CN" altLang="en-US" sz="2400" dirty="0">
                <a:solidFill>
                  <a:srgbClr val="3C85A5"/>
                </a:solidFill>
                <a:latin typeface="Open Serif Semibold" panose="02060802040506020404" pitchFamily="18" charset="0"/>
              </a:rPr>
              <a:t>→</a:t>
            </a:r>
            <a:r>
              <a:rPr lang="en-US" altLang="zh-CN" sz="2400" dirty="0">
                <a:solidFill>
                  <a:srgbClr val="3C85A5"/>
                </a:solidFill>
                <a:latin typeface="Open Serif Semibold" panose="02060802040506020404" pitchFamily="18" charset="0"/>
              </a:rPr>
              <a:t> 2 H₂(g) + O₂(g)</a:t>
            </a:r>
          </a:p>
        </p:txBody>
      </p:sp>
      <p:sp>
        <p:nvSpPr>
          <p:cNvPr id="3" name="箭头: 左 2">
            <a:extLst>
              <a:ext uri="{FF2B5EF4-FFF2-40B4-BE49-F238E27FC236}">
                <a16:creationId xmlns:a16="http://schemas.microsoft.com/office/drawing/2014/main" id="{48872E61-4DFB-57A7-7CA1-BFEA6F531958}"/>
              </a:ext>
            </a:extLst>
          </p:cNvPr>
          <p:cNvSpPr/>
          <p:nvPr/>
        </p:nvSpPr>
        <p:spPr>
          <a:xfrm>
            <a:off x="5310261" y="3945082"/>
            <a:ext cx="900332" cy="648485"/>
          </a:xfrm>
          <a:prstGeom prst="leftArrow">
            <a:avLst/>
          </a:prstGeom>
          <a:gradFill flip="none" rotWithShape="1">
            <a:gsLst>
              <a:gs pos="0">
                <a:srgbClr val="C8F4FF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rgbClr val="AAABBF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2">
          <a:extLst>
            <a:ext uri="{FF2B5EF4-FFF2-40B4-BE49-F238E27FC236}">
              <a16:creationId xmlns:a16="http://schemas.microsoft.com/office/drawing/2014/main" id="{AFDAFAAD-E76B-BD06-3E5A-38EBC7109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>
            <a:extLst>
              <a:ext uri="{FF2B5EF4-FFF2-40B4-BE49-F238E27FC236}">
                <a16:creationId xmlns:a16="http://schemas.microsoft.com/office/drawing/2014/main" id="{F29264D7-B8E5-67E4-0D18-78658AF373CB}"/>
              </a:ext>
            </a:extLst>
          </p:cNvPr>
          <p:cNvSpPr txBox="1"/>
          <p:nvPr/>
        </p:nvSpPr>
        <p:spPr>
          <a:xfrm>
            <a:off x="762000" y="571500"/>
            <a:ext cx="11201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02B49"/>
                </a:solidFill>
                <a:latin typeface="Public Sans"/>
                <a:ea typeface="Public Sans"/>
                <a:cs typeface="Public Sans"/>
                <a:sym typeface="Public Sans"/>
              </a:rPr>
              <a:t>THE CHALLENGE OF NATURE</a:t>
            </a:r>
            <a:endParaRPr/>
          </a:p>
        </p:txBody>
      </p:sp>
      <p:sp>
        <p:nvSpPr>
          <p:cNvPr id="95" name="Google Shape;95;p14">
            <a:extLst>
              <a:ext uri="{FF2B5EF4-FFF2-40B4-BE49-F238E27FC236}">
                <a16:creationId xmlns:a16="http://schemas.microsoft.com/office/drawing/2014/main" id="{1DC8A046-3A71-8B9B-1EAB-27AD59F2F1B7}"/>
              </a:ext>
            </a:extLst>
          </p:cNvPr>
          <p:cNvSpPr/>
          <p:nvPr/>
        </p:nvSpPr>
        <p:spPr>
          <a:xfrm>
            <a:off x="762000" y="1095375"/>
            <a:ext cx="10668000" cy="28575"/>
          </a:xfrm>
          <a:prstGeom prst="rect">
            <a:avLst/>
          </a:prstGeom>
          <a:solidFill>
            <a:srgbClr val="00848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>
            <a:extLst>
              <a:ext uri="{FF2B5EF4-FFF2-40B4-BE49-F238E27FC236}">
                <a16:creationId xmlns:a16="http://schemas.microsoft.com/office/drawing/2014/main" id="{11EFD8CA-6FA2-D517-8735-A64C4C189D3B}"/>
              </a:ext>
            </a:extLst>
          </p:cNvPr>
          <p:cNvSpPr txBox="1"/>
          <p:nvPr/>
        </p:nvSpPr>
        <p:spPr>
          <a:xfrm>
            <a:off x="762000" y="1390245"/>
            <a:ext cx="5048250" cy="1551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2385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Intermittent Sources:</a:t>
            </a:r>
            <a:r>
              <a:rPr lang="en-US" sz="2400" b="0" i="0" u="none" strike="noStrike" cap="none" dirty="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 Solar and wind fluctuate on timescales of seconds.</a:t>
            </a:r>
            <a:endParaRPr sz="2000" dirty="0"/>
          </a:p>
        </p:txBody>
      </p:sp>
      <p:sp>
        <p:nvSpPr>
          <p:cNvPr id="98" name="Google Shape;98;p14">
            <a:extLst>
              <a:ext uri="{FF2B5EF4-FFF2-40B4-BE49-F238E27FC236}">
                <a16:creationId xmlns:a16="http://schemas.microsoft.com/office/drawing/2014/main" id="{6327D6DE-E7E3-98AD-B280-36499F8C266C}"/>
              </a:ext>
            </a:extLst>
          </p:cNvPr>
          <p:cNvSpPr txBox="1"/>
          <p:nvPr/>
        </p:nvSpPr>
        <p:spPr>
          <a:xfrm>
            <a:off x="761999" y="3062776"/>
            <a:ext cx="5048250" cy="1551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2385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Catalyst Fragility:</a:t>
            </a:r>
            <a:r>
              <a:rPr lang="en-US" sz="2400" b="0" i="0" u="none" strike="noStrike" cap="none" dirty="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 3d-block metals degrade under small voltage variations.</a:t>
            </a:r>
            <a:endParaRPr sz="2000" dirty="0"/>
          </a:p>
        </p:txBody>
      </p:sp>
      <p:sp>
        <p:nvSpPr>
          <p:cNvPr id="99" name="Google Shape;99;p14">
            <a:extLst>
              <a:ext uri="{FF2B5EF4-FFF2-40B4-BE49-F238E27FC236}">
                <a16:creationId xmlns:a16="http://schemas.microsoft.com/office/drawing/2014/main" id="{5F9BB8BB-8E57-B933-D48C-02A7CB542DD4}"/>
              </a:ext>
            </a:extLst>
          </p:cNvPr>
          <p:cNvSpPr txBox="1"/>
          <p:nvPr/>
        </p:nvSpPr>
        <p:spPr>
          <a:xfrm>
            <a:off x="761999" y="4735306"/>
            <a:ext cx="5048250" cy="1551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Sustainable Synthesis:</a:t>
            </a:r>
            <a:r>
              <a:rPr lang="en-US" sz="2400" b="0" i="0" u="none" strike="noStrike" cap="none" dirty="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 Harnessing intermittency is key for green hydrogen.</a:t>
            </a:r>
            <a:endParaRPr sz="2000" dirty="0"/>
          </a:p>
        </p:txBody>
      </p:sp>
      <p:pic>
        <p:nvPicPr>
          <p:cNvPr id="100" name="Google Shape;100;p14" descr="image.png">
            <a:extLst>
              <a:ext uri="{FF2B5EF4-FFF2-40B4-BE49-F238E27FC236}">
                <a16:creationId xmlns:a16="http://schemas.microsoft.com/office/drawing/2014/main" id="{2CDDD644-CDC4-F30B-636D-E136C3356EB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1999" y="1539180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 descr="image.png">
            <a:extLst>
              <a:ext uri="{FF2B5EF4-FFF2-40B4-BE49-F238E27FC236}">
                <a16:creationId xmlns:a16="http://schemas.microsoft.com/office/drawing/2014/main" id="{D04B5335-9EC6-4F77-90B1-3FAA099324F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3204418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4" descr="image.png">
            <a:extLst>
              <a:ext uri="{FF2B5EF4-FFF2-40B4-BE49-F238E27FC236}">
                <a16:creationId xmlns:a16="http://schemas.microsoft.com/office/drawing/2014/main" id="{14B89A9F-8CD1-14CA-66E7-55F88B286771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0" y="4894346"/>
            <a:ext cx="2381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6D7DC1A0-11EB-D5A8-9793-F61B8A791F4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73879" y="1456080"/>
            <a:ext cx="5456121" cy="4797434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1A5B0F9D-DF39-8FE2-1567-EF1EDDA2657A}"/>
              </a:ext>
            </a:extLst>
          </p:cNvPr>
          <p:cNvSpPr/>
          <p:nvPr/>
        </p:nvSpPr>
        <p:spPr>
          <a:xfrm>
            <a:off x="6217920" y="4920615"/>
            <a:ext cx="422910" cy="1485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>
                <a:solidFill>
                  <a:srgbClr val="075171"/>
                </a:solidFill>
                <a:latin typeface="Arial Narrow" panose="020B0606020202030204" pitchFamily="34" charset="0"/>
              </a:rPr>
              <a:t>H</a:t>
            </a:r>
            <a:r>
              <a:rPr lang="en-US" altLang="zh-CN" sz="1100" b="1" baseline="-25000" dirty="0">
                <a:solidFill>
                  <a:srgbClr val="075171"/>
                </a:solidFill>
                <a:latin typeface="Arial Narrow" panose="020B0606020202030204" pitchFamily="34" charset="0"/>
              </a:rPr>
              <a:t>2</a:t>
            </a:r>
            <a:endParaRPr lang="zh-CN" altLang="en-US" sz="1100" b="1" baseline="-25000" dirty="0">
              <a:solidFill>
                <a:srgbClr val="075171"/>
              </a:solidFill>
              <a:latin typeface="Arial Narrow" panose="020B060602020203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154349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1522283"/>
            <a:ext cx="3472375" cy="20702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3869672"/>
            <a:ext cx="3472375" cy="2416828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5"/>
          <p:cNvSpPr txBox="1"/>
          <p:nvPr/>
        </p:nvSpPr>
        <p:spPr>
          <a:xfrm>
            <a:off x="762000" y="571500"/>
            <a:ext cx="11201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02B49"/>
                </a:solidFill>
                <a:latin typeface="Public Sans"/>
                <a:ea typeface="Public Sans"/>
                <a:cs typeface="Public Sans"/>
                <a:sym typeface="Public Sans"/>
              </a:rPr>
              <a:t>THE "OFF-CYCLE" TRAP</a:t>
            </a:r>
            <a:endParaRPr/>
          </a:p>
        </p:txBody>
      </p:sp>
      <p:sp>
        <p:nvSpPr>
          <p:cNvPr id="110" name="Google Shape;110;p15"/>
          <p:cNvSpPr/>
          <p:nvPr/>
        </p:nvSpPr>
        <p:spPr>
          <a:xfrm>
            <a:off x="762000" y="1095375"/>
            <a:ext cx="10668000" cy="28575"/>
          </a:xfrm>
          <a:prstGeom prst="rect">
            <a:avLst/>
          </a:prstGeom>
          <a:solidFill>
            <a:srgbClr val="00848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5"/>
          <p:cNvSpPr txBox="1"/>
          <p:nvPr/>
        </p:nvSpPr>
        <p:spPr>
          <a:xfrm>
            <a:off x="1548238" y="1881659"/>
            <a:ext cx="236366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008489"/>
                </a:solidFill>
                <a:latin typeface="Public Sans"/>
                <a:ea typeface="Public Sans"/>
                <a:cs typeface="Public Sans"/>
                <a:sym typeface="Public Sans"/>
              </a:rPr>
              <a:t>Standard Operation</a:t>
            </a:r>
            <a:endParaRPr dirty="0"/>
          </a:p>
        </p:txBody>
      </p:sp>
      <p:sp>
        <p:nvSpPr>
          <p:cNvPr id="113" name="Google Shape;113;p15"/>
          <p:cNvSpPr txBox="1"/>
          <p:nvPr/>
        </p:nvSpPr>
        <p:spPr>
          <a:xfrm>
            <a:off x="991479" y="2317038"/>
            <a:ext cx="2940441" cy="35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Voltage &lt; 1.75V vs RHE</a:t>
            </a:r>
            <a:endParaRPr dirty="0"/>
          </a:p>
        </p:txBody>
      </p:sp>
      <p:sp>
        <p:nvSpPr>
          <p:cNvPr id="114" name="Google Shape;114;p15"/>
          <p:cNvSpPr txBox="1"/>
          <p:nvPr/>
        </p:nvSpPr>
        <p:spPr>
          <a:xfrm>
            <a:off x="991479" y="2768758"/>
            <a:ext cx="2940441" cy="65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Stable sequential oxidation: 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0" i="0" u="none" strike="noStrike" cap="none" dirty="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 Mn</a:t>
            </a:r>
            <a:r>
              <a:rPr lang="en-US" sz="1650" b="0" i="0" u="none" strike="noStrike" cap="none" baseline="30000" dirty="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2+</a:t>
            </a:r>
            <a:r>
              <a:rPr lang="en-US" sz="1650" b="0" i="0" u="none" strike="noStrike" cap="none" dirty="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 → Mn</a:t>
            </a:r>
            <a:r>
              <a:rPr lang="en-US" sz="1650" b="0" i="0" u="none" strike="noStrike" cap="none" baseline="30000" dirty="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3+</a:t>
            </a:r>
            <a:r>
              <a:rPr lang="en-US" sz="1650" b="0" i="0" u="none" strike="noStrike" cap="none" dirty="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 → Mn</a:t>
            </a:r>
            <a:r>
              <a:rPr lang="en-US" sz="1650" b="0" i="0" u="none" strike="noStrike" cap="none" baseline="30000" dirty="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4+</a:t>
            </a:r>
            <a:endParaRPr baseline="30000" dirty="0"/>
          </a:p>
        </p:txBody>
      </p:sp>
      <p:sp>
        <p:nvSpPr>
          <p:cNvPr id="116" name="Google Shape;116;p15"/>
          <p:cNvSpPr txBox="1"/>
          <p:nvPr/>
        </p:nvSpPr>
        <p:spPr>
          <a:xfrm>
            <a:off x="1548238" y="4167945"/>
            <a:ext cx="254725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D64493"/>
                </a:solidFill>
                <a:latin typeface="Public Sans"/>
                <a:ea typeface="Public Sans"/>
                <a:cs typeface="Public Sans"/>
                <a:sym typeface="Public Sans"/>
              </a:rPr>
              <a:t>Corrosion Phase</a:t>
            </a:r>
            <a:endParaRPr dirty="0">
              <a:solidFill>
                <a:srgbClr val="D64493"/>
              </a:solidFill>
            </a:endParaRPr>
          </a:p>
        </p:txBody>
      </p:sp>
      <p:sp>
        <p:nvSpPr>
          <p:cNvPr id="117" name="Google Shape;117;p15"/>
          <p:cNvSpPr txBox="1"/>
          <p:nvPr/>
        </p:nvSpPr>
        <p:spPr>
          <a:xfrm>
            <a:off x="981882" y="4780165"/>
            <a:ext cx="3090095" cy="35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Voltage &gt; 1.8V vs RHE</a:t>
            </a:r>
            <a:endParaRPr dirty="0"/>
          </a:p>
        </p:txBody>
      </p:sp>
      <p:sp>
        <p:nvSpPr>
          <p:cNvPr id="118" name="Google Shape;118;p15"/>
          <p:cNvSpPr txBox="1"/>
          <p:nvPr/>
        </p:nvSpPr>
        <p:spPr>
          <a:xfrm>
            <a:off x="981882" y="5345719"/>
            <a:ext cx="3186625" cy="65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Irreversible Dissolution: 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0" i="0" u="none" strike="noStrike" cap="none" dirty="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 Manganese turns to </a:t>
            </a:r>
            <a:r>
              <a:rPr lang="en-US" sz="1650" b="0" i="0" u="none" strike="noStrike" cap="none" dirty="0">
                <a:solidFill>
                  <a:srgbClr val="D64493"/>
                </a:solidFill>
                <a:latin typeface="Public Sans"/>
                <a:ea typeface="Public Sans"/>
                <a:cs typeface="Public Sans"/>
                <a:sym typeface="Public Sans"/>
              </a:rPr>
              <a:t>Mn</a:t>
            </a:r>
            <a:r>
              <a:rPr lang="en-US" sz="1650" b="0" i="0" u="none" strike="noStrike" cap="none" baseline="30000" dirty="0">
                <a:solidFill>
                  <a:srgbClr val="D64493"/>
                </a:solidFill>
                <a:latin typeface="Public Sans"/>
                <a:ea typeface="Public Sans"/>
                <a:cs typeface="Public Sans"/>
                <a:sym typeface="Public Sans"/>
              </a:rPr>
              <a:t>7+</a:t>
            </a:r>
            <a:r>
              <a:rPr lang="en-US" sz="1650" b="0" i="0" u="none" strike="noStrike" cap="none" dirty="0">
                <a:solidFill>
                  <a:srgbClr val="D64493"/>
                </a:solidFill>
                <a:latin typeface="Public Sans"/>
                <a:ea typeface="Public Sans"/>
                <a:cs typeface="Public Sans"/>
                <a:sym typeface="Public Sans"/>
              </a:rPr>
              <a:t> (Pink)</a:t>
            </a:r>
            <a:endParaRPr dirty="0">
              <a:solidFill>
                <a:srgbClr val="D64493"/>
              </a:solidFill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4DD05B7C-FC35-AC39-62E3-3EC970695140}"/>
              </a:ext>
            </a:extLst>
          </p:cNvPr>
          <p:cNvGrpSpPr/>
          <p:nvPr/>
        </p:nvGrpSpPr>
        <p:grpSpPr>
          <a:xfrm>
            <a:off x="991479" y="1799418"/>
            <a:ext cx="387155" cy="387155"/>
            <a:chOff x="1047750" y="2888902"/>
            <a:chExt cx="571500" cy="571500"/>
          </a:xfrm>
        </p:grpSpPr>
        <p:pic>
          <p:nvPicPr>
            <p:cNvPr id="111" name="Google Shape;111;p15" descr="image.png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1047750" y="2888902"/>
              <a:ext cx="571500" cy="571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9" name="Google Shape;119;p15" descr="image.png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219200" y="3060352"/>
              <a:ext cx="228600" cy="228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FFB872CC-2A17-8397-A225-3D7CD8773B18}"/>
              </a:ext>
            </a:extLst>
          </p:cNvPr>
          <p:cNvGrpSpPr/>
          <p:nvPr/>
        </p:nvGrpSpPr>
        <p:grpSpPr>
          <a:xfrm>
            <a:off x="981882" y="4115875"/>
            <a:ext cx="387155" cy="387155"/>
            <a:chOff x="6524625" y="2888902"/>
            <a:chExt cx="571500" cy="571500"/>
          </a:xfrm>
        </p:grpSpPr>
        <p:pic>
          <p:nvPicPr>
            <p:cNvPr id="115" name="Google Shape;115;p15" descr="image.png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6524625" y="2888902"/>
              <a:ext cx="571500" cy="571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0" name="Google Shape;120;p15" descr="image.png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6696075" y="3060352"/>
              <a:ext cx="228600" cy="228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3D037187-F8B4-99E2-9143-FE4162687AA3}"/>
              </a:ext>
            </a:extLst>
          </p:cNvPr>
          <p:cNvGrpSpPr/>
          <p:nvPr/>
        </p:nvGrpSpPr>
        <p:grpSpPr>
          <a:xfrm>
            <a:off x="4284654" y="1799418"/>
            <a:ext cx="7674964" cy="4403820"/>
            <a:chOff x="4517036" y="1799418"/>
            <a:chExt cx="7674964" cy="4403820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95E58CA6-CEBE-75BD-04D1-D8F03EE7676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971082" y="1799418"/>
              <a:ext cx="4766872" cy="3803597"/>
            </a:xfrm>
            <a:prstGeom prst="rect">
              <a:avLst/>
            </a:prstGeom>
          </p:spPr>
        </p:pic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FFC834C1-C67A-8145-D285-7339CEA582F1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517036" y="5788300"/>
              <a:ext cx="7674964" cy="414938"/>
            </a:xfrm>
            <a:prstGeom prst="rect">
              <a:avLst/>
            </a:prstGeom>
          </p:spPr>
        </p:pic>
        <p:sp>
          <p:nvSpPr>
            <p:cNvPr id="14" name="任意多边形: 形状 13">
              <a:extLst>
                <a:ext uri="{FF2B5EF4-FFF2-40B4-BE49-F238E27FC236}">
                  <a16:creationId xmlns:a16="http://schemas.microsoft.com/office/drawing/2014/main" id="{AAE2F295-59ED-3C2D-29AA-E9B15BB2B100}"/>
                </a:ext>
              </a:extLst>
            </p:cNvPr>
            <p:cNvSpPr/>
            <p:nvPr/>
          </p:nvSpPr>
          <p:spPr>
            <a:xfrm>
              <a:off x="8554720" y="2317039"/>
              <a:ext cx="754380" cy="1452126"/>
            </a:xfrm>
            <a:custGeom>
              <a:avLst/>
              <a:gdLst>
                <a:gd name="csX0" fmla="*/ 278789 w 715669"/>
                <a:gd name="csY0" fmla="*/ 1427483 h 1427483"/>
                <a:gd name="csX1" fmla="*/ 161949 w 715669"/>
                <a:gd name="csY1" fmla="*/ 1234443 h 1427483"/>
                <a:gd name="csX2" fmla="*/ 37489 w 715669"/>
                <a:gd name="csY2" fmla="*/ 947423 h 1427483"/>
                <a:gd name="csX3" fmla="*/ 4469 w 715669"/>
                <a:gd name="csY3" fmla="*/ 751843 h 1427483"/>
                <a:gd name="csX4" fmla="*/ 14629 w 715669"/>
                <a:gd name="csY4" fmla="*/ 584203 h 1427483"/>
                <a:gd name="csX5" fmla="*/ 134009 w 715669"/>
                <a:gd name="csY5" fmla="*/ 342903 h 1427483"/>
                <a:gd name="csX6" fmla="*/ 357529 w 715669"/>
                <a:gd name="csY6" fmla="*/ 162563 h 1427483"/>
                <a:gd name="csX7" fmla="*/ 626769 w 715669"/>
                <a:gd name="csY7" fmla="*/ 25403 h 1427483"/>
                <a:gd name="csX8" fmla="*/ 715669 w 715669"/>
                <a:gd name="csY8" fmla="*/ 5083 h 142748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715669" h="1427483">
                  <a:moveTo>
                    <a:pt x="278789" y="1427483"/>
                  </a:moveTo>
                  <a:cubicBezTo>
                    <a:pt x="240477" y="1370968"/>
                    <a:pt x="202166" y="1314453"/>
                    <a:pt x="161949" y="1234443"/>
                  </a:cubicBezTo>
                  <a:cubicBezTo>
                    <a:pt x="121732" y="1154433"/>
                    <a:pt x="63736" y="1027856"/>
                    <a:pt x="37489" y="947423"/>
                  </a:cubicBezTo>
                  <a:cubicBezTo>
                    <a:pt x="11242" y="866990"/>
                    <a:pt x="8279" y="812380"/>
                    <a:pt x="4469" y="751843"/>
                  </a:cubicBezTo>
                  <a:cubicBezTo>
                    <a:pt x="659" y="691306"/>
                    <a:pt x="-6961" y="652360"/>
                    <a:pt x="14629" y="584203"/>
                  </a:cubicBezTo>
                  <a:cubicBezTo>
                    <a:pt x="36219" y="516046"/>
                    <a:pt x="76859" y="413176"/>
                    <a:pt x="134009" y="342903"/>
                  </a:cubicBezTo>
                  <a:cubicBezTo>
                    <a:pt x="191159" y="272630"/>
                    <a:pt x="275402" y="215480"/>
                    <a:pt x="357529" y="162563"/>
                  </a:cubicBezTo>
                  <a:cubicBezTo>
                    <a:pt x="439656" y="109646"/>
                    <a:pt x="567079" y="51650"/>
                    <a:pt x="626769" y="25403"/>
                  </a:cubicBezTo>
                  <a:cubicBezTo>
                    <a:pt x="686459" y="-844"/>
                    <a:pt x="698736" y="-5077"/>
                    <a:pt x="715669" y="5083"/>
                  </a:cubicBezTo>
                </a:path>
              </a:pathLst>
            </a:custGeom>
            <a:noFill/>
            <a:ln w="57150">
              <a:solidFill>
                <a:srgbClr val="D64493"/>
              </a:solidFill>
              <a:tailEnd type="triangle" w="lg" len="lg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F4B4217-58AB-405D-ACBF-330B3480B348}"/>
                </a:ext>
              </a:extLst>
            </p:cNvPr>
            <p:cNvSpPr/>
            <p:nvPr/>
          </p:nvSpPr>
          <p:spPr>
            <a:xfrm>
              <a:off x="9347835" y="2070427"/>
              <a:ext cx="504825" cy="504825"/>
            </a:xfrm>
            <a:prstGeom prst="ellipse">
              <a:avLst/>
            </a:prstGeom>
            <a:gradFill flip="none" rotWithShape="1">
              <a:gsLst>
                <a:gs pos="0">
                  <a:schemeClr val="bg1"/>
                </a:gs>
                <a:gs pos="100000">
                  <a:srgbClr val="D64493"/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rgbClr val="D6449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300">
                  <a:solidFill>
                    <a:schemeClr val="tx1"/>
                  </a:solidFill>
                </a:rPr>
                <a:t>Mn</a:t>
              </a:r>
              <a:r>
                <a:rPr lang="en-US" altLang="zh-CN" sz="1300" baseline="30000">
                  <a:solidFill>
                    <a:schemeClr val="tx1"/>
                  </a:solidFill>
                </a:rPr>
                <a:t>7+</a:t>
              </a:r>
              <a:endParaRPr lang="zh-CN" altLang="en-US" sz="1300" baseline="30000" dirty="0">
                <a:solidFill>
                  <a:schemeClr val="tx1"/>
                </a:solidFill>
              </a:endParaRPr>
            </a:p>
          </p:txBody>
        </p:sp>
        <p:cxnSp>
          <p:nvCxnSpPr>
            <p:cNvPr id="17" name="直接箭头连接符 16">
              <a:extLst>
                <a:ext uri="{FF2B5EF4-FFF2-40B4-BE49-F238E27FC236}">
                  <a16:creationId xmlns:a16="http://schemas.microsoft.com/office/drawing/2014/main" id="{8323D8A7-4853-E36F-4771-8E1402C4C637}"/>
                </a:ext>
              </a:extLst>
            </p:cNvPr>
            <p:cNvCxnSpPr/>
            <p:nvPr/>
          </p:nvCxnSpPr>
          <p:spPr>
            <a:xfrm>
              <a:off x="8590280" y="6000849"/>
              <a:ext cx="345440" cy="0"/>
            </a:xfrm>
            <a:prstGeom prst="straightConnector1">
              <a:avLst/>
            </a:prstGeom>
            <a:ln w="38100">
              <a:solidFill>
                <a:srgbClr val="D6449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矩形 3">
            <a:extLst>
              <a:ext uri="{FF2B5EF4-FFF2-40B4-BE49-F238E27FC236}">
                <a16:creationId xmlns:a16="http://schemas.microsoft.com/office/drawing/2014/main" id="{8443BFFA-9959-2A81-0C2A-8C73B0461295}"/>
              </a:ext>
            </a:extLst>
          </p:cNvPr>
          <p:cNvSpPr/>
          <p:nvPr/>
        </p:nvSpPr>
        <p:spPr>
          <a:xfrm>
            <a:off x="5513901" y="1799418"/>
            <a:ext cx="3169461" cy="5176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7"/>
          <p:cNvSpPr txBox="1"/>
          <p:nvPr/>
        </p:nvSpPr>
        <p:spPr>
          <a:xfrm>
            <a:off x="762000" y="571500"/>
            <a:ext cx="10667850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850" b="1" i="0" u="none" strike="noStrike" cap="none" dirty="0">
                <a:solidFill>
                  <a:srgbClr val="002B49"/>
                </a:solidFill>
                <a:latin typeface="Public Sans"/>
                <a:ea typeface="Public Sans"/>
                <a:cs typeface="Public Sans"/>
                <a:sym typeface="Public Sans"/>
              </a:rPr>
              <a:t>THE GUYARD REACTION                          </a:t>
            </a:r>
            <a:r>
              <a:rPr lang="en-US" altLang="zh-CN" sz="2850" dirty="0">
                <a:solidFill>
                  <a:srgbClr val="002B49"/>
                </a:solidFill>
                <a:latin typeface="Open Serif Semibold" panose="02060802040506020404" pitchFamily="18" charset="0"/>
              </a:rPr>
              <a:t>4 Mn</a:t>
            </a:r>
            <a:r>
              <a:rPr lang="en-US" altLang="zh-CN" sz="2850" baseline="30000" dirty="0">
                <a:solidFill>
                  <a:srgbClr val="002B49"/>
                </a:solidFill>
                <a:latin typeface="Open Serif Semibold" panose="02060802040506020404" pitchFamily="18" charset="0"/>
              </a:rPr>
              <a:t>2+</a:t>
            </a:r>
            <a:r>
              <a:rPr lang="en-US" altLang="zh-CN" sz="2850" dirty="0">
                <a:solidFill>
                  <a:srgbClr val="002B49"/>
                </a:solidFill>
                <a:latin typeface="Open Serif Semibold" panose="02060802040506020404" pitchFamily="18" charset="0"/>
              </a:rPr>
              <a:t> + Mn</a:t>
            </a:r>
            <a:r>
              <a:rPr lang="en-US" altLang="zh-CN" sz="2850" baseline="30000" dirty="0">
                <a:solidFill>
                  <a:srgbClr val="002B49"/>
                </a:solidFill>
                <a:latin typeface="Open Serif Semibold" panose="02060802040506020404" pitchFamily="18" charset="0"/>
              </a:rPr>
              <a:t>7+</a:t>
            </a:r>
            <a:r>
              <a:rPr lang="en-US" altLang="zh-CN" sz="2850" dirty="0">
                <a:solidFill>
                  <a:srgbClr val="002B49"/>
                </a:solidFill>
                <a:latin typeface="Open Serif Semibold" panose="02060802040506020404" pitchFamily="18" charset="0"/>
              </a:rPr>
              <a:t> ­</a:t>
            </a:r>
            <a:r>
              <a:rPr lang="zh-CN" altLang="en-US" sz="2850" dirty="0">
                <a:solidFill>
                  <a:srgbClr val="002B49"/>
                </a:solidFill>
                <a:latin typeface="Open Serif Semibold" panose="02060802040506020404" pitchFamily="18" charset="0"/>
              </a:rPr>
              <a:t>→</a:t>
            </a:r>
            <a:r>
              <a:rPr lang="en-US" altLang="zh-CN" sz="2850" dirty="0">
                <a:solidFill>
                  <a:srgbClr val="002B49"/>
                </a:solidFill>
                <a:latin typeface="Open Serif Semibold" panose="02060802040506020404" pitchFamily="18" charset="0"/>
              </a:rPr>
              <a:t> 5 Mn</a:t>
            </a:r>
            <a:r>
              <a:rPr lang="en-US" altLang="zh-CN" sz="2850" baseline="30000" dirty="0">
                <a:solidFill>
                  <a:srgbClr val="002B49"/>
                </a:solidFill>
                <a:latin typeface="Open Serif Semibold" panose="02060802040506020404" pitchFamily="18" charset="0"/>
              </a:rPr>
              <a:t>3+</a:t>
            </a:r>
            <a:endParaRPr lang="zh-CN" altLang="en-US" sz="2850" baseline="30000" dirty="0">
              <a:solidFill>
                <a:srgbClr val="002B49"/>
              </a:solidFill>
              <a:latin typeface="Open Serif Semibold" panose="02060802040506020404" pitchFamily="18" charset="0"/>
            </a:endParaRPr>
          </a:p>
        </p:txBody>
      </p:sp>
      <p:sp>
        <p:nvSpPr>
          <p:cNvPr id="141" name="Google Shape;141;p17"/>
          <p:cNvSpPr/>
          <p:nvPr/>
        </p:nvSpPr>
        <p:spPr>
          <a:xfrm>
            <a:off x="762000" y="1095375"/>
            <a:ext cx="10668000" cy="28575"/>
          </a:xfrm>
          <a:prstGeom prst="rect">
            <a:avLst/>
          </a:prstGeom>
          <a:solidFill>
            <a:srgbClr val="00848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CF64CE9A-CBD2-B401-1977-6D9086D6669C}"/>
              </a:ext>
            </a:extLst>
          </p:cNvPr>
          <p:cNvGrpSpPr/>
          <p:nvPr/>
        </p:nvGrpSpPr>
        <p:grpSpPr>
          <a:xfrm>
            <a:off x="762000" y="1346550"/>
            <a:ext cx="3365450" cy="1749534"/>
            <a:chOff x="732883" y="2262486"/>
            <a:chExt cx="3365450" cy="1749534"/>
          </a:xfrm>
        </p:grpSpPr>
        <p:pic>
          <p:nvPicPr>
            <p:cNvPr id="137" name="Google Shape;137;p17" descr="image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32883" y="2262486"/>
              <a:ext cx="3365450" cy="174953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4" name="Google Shape;144;p17"/>
            <p:cNvSpPr txBox="1"/>
            <p:nvPr/>
          </p:nvSpPr>
          <p:spPr>
            <a:xfrm>
              <a:off x="1482046" y="2619375"/>
              <a:ext cx="1424187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i="0" u="none" strike="noStrike" cap="none" dirty="0">
                  <a:solidFill>
                    <a:srgbClr val="008489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Additive</a:t>
              </a:r>
              <a:endParaRPr dirty="0"/>
            </a:p>
          </p:txBody>
        </p:sp>
        <p:sp>
          <p:nvSpPr>
            <p:cNvPr id="145" name="Google Shape;145;p17"/>
            <p:cNvSpPr txBox="1"/>
            <p:nvPr/>
          </p:nvSpPr>
          <p:spPr>
            <a:xfrm>
              <a:off x="1047750" y="3096084"/>
              <a:ext cx="2793950" cy="7109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>
                  <a:solidFill>
                    <a:srgbClr val="333333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Phosphate ions added to </a:t>
              </a:r>
            </a:p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>
                  <a:solidFill>
                    <a:srgbClr val="333333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pH 2 electrolyte.</a:t>
              </a:r>
              <a:endParaRPr dirty="0"/>
            </a:p>
          </p:txBody>
        </p:sp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E57D9BFD-234B-A7D0-F274-23A164D32E6C}"/>
                </a:ext>
              </a:extLst>
            </p:cNvPr>
            <p:cNvGrpSpPr/>
            <p:nvPr/>
          </p:nvGrpSpPr>
          <p:grpSpPr>
            <a:xfrm>
              <a:off x="1047750" y="2586335"/>
              <a:ext cx="334074" cy="334074"/>
              <a:chOff x="1047750" y="2586335"/>
              <a:chExt cx="571500" cy="571500"/>
            </a:xfrm>
          </p:grpSpPr>
          <p:pic>
            <p:nvPicPr>
              <p:cNvPr id="143" name="Google Shape;143;p17" descr="image.png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1047750" y="2586335"/>
                <a:ext cx="571500" cy="5715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52" name="Google Shape;152;p17" descr="image.png"/>
              <p:cNvPicPr preferRelativeResize="0"/>
              <p:nvPr/>
            </p:nvPicPr>
            <p:blipFill rotWithShape="1">
              <a:blip r:embed="rId6">
                <a:alphaModFix/>
              </a:blip>
              <a:srcRect/>
              <a:stretch/>
            </p:blipFill>
            <p:spPr>
              <a:xfrm>
                <a:off x="1228725" y="2757785"/>
                <a:ext cx="209550" cy="2286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EDCB5F6C-5075-6C47-D954-152215BDABF2}"/>
              </a:ext>
            </a:extLst>
          </p:cNvPr>
          <p:cNvGrpSpPr/>
          <p:nvPr/>
        </p:nvGrpSpPr>
        <p:grpSpPr>
          <a:xfrm>
            <a:off x="762000" y="3117203"/>
            <a:ext cx="3365450" cy="1749535"/>
            <a:chOff x="4413200" y="2262485"/>
            <a:chExt cx="3365450" cy="1749535"/>
          </a:xfrm>
        </p:grpSpPr>
        <p:pic>
          <p:nvPicPr>
            <p:cNvPr id="138" name="Google Shape;138;p17" descr="image.png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4413200" y="2262485"/>
              <a:ext cx="3365450" cy="174953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7" name="Google Shape;147;p17"/>
            <p:cNvSpPr txBox="1"/>
            <p:nvPr/>
          </p:nvSpPr>
          <p:spPr>
            <a:xfrm>
              <a:off x="5133247" y="2621998"/>
              <a:ext cx="1685768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i="0" u="none" strike="noStrike" cap="none" dirty="0">
                  <a:solidFill>
                    <a:srgbClr val="008489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Interaction</a:t>
              </a:r>
              <a:endParaRPr dirty="0"/>
            </a:p>
          </p:txBody>
        </p:sp>
        <p:sp>
          <p:nvSpPr>
            <p:cNvPr id="148" name="Google Shape;148;p17"/>
            <p:cNvSpPr txBox="1"/>
            <p:nvPr/>
          </p:nvSpPr>
          <p:spPr>
            <a:xfrm>
              <a:off x="4698950" y="3097157"/>
              <a:ext cx="2793950" cy="7109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>
                  <a:solidFill>
                    <a:srgbClr val="333333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Dissolved Mn</a:t>
              </a:r>
              <a:r>
                <a:rPr lang="en-US" sz="1650" b="0" i="0" u="none" strike="noStrike" cap="none" baseline="30000" dirty="0">
                  <a:solidFill>
                    <a:srgbClr val="333333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7+</a:t>
              </a:r>
              <a:r>
                <a:rPr lang="en-US" sz="1650" b="0" i="0" u="none" strike="noStrike" cap="none" dirty="0">
                  <a:solidFill>
                    <a:srgbClr val="333333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reacts with Mn</a:t>
              </a:r>
              <a:r>
                <a:rPr lang="en-US" sz="1650" b="0" i="0" u="none" strike="noStrike" cap="none" baseline="30000" dirty="0">
                  <a:solidFill>
                    <a:srgbClr val="333333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2+</a:t>
              </a:r>
              <a:r>
                <a:rPr lang="en-US" sz="1650" b="0" i="0" u="none" strike="noStrike" cap="none" dirty="0">
                  <a:solidFill>
                    <a:srgbClr val="333333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OER intermediates.</a:t>
              </a:r>
              <a:endParaRPr dirty="0"/>
            </a:p>
          </p:txBody>
        </p: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DA2262CA-FCB1-610C-68AF-E7B0D9C23581}"/>
                </a:ext>
              </a:extLst>
            </p:cNvPr>
            <p:cNvGrpSpPr/>
            <p:nvPr/>
          </p:nvGrpSpPr>
          <p:grpSpPr>
            <a:xfrm>
              <a:off x="4698950" y="2586335"/>
              <a:ext cx="334074" cy="334074"/>
              <a:chOff x="4698950" y="2586335"/>
              <a:chExt cx="571500" cy="571500"/>
            </a:xfrm>
          </p:grpSpPr>
          <p:pic>
            <p:nvPicPr>
              <p:cNvPr id="146" name="Google Shape;146;p17" descr="image.png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4698950" y="2586335"/>
                <a:ext cx="571500" cy="5715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53" name="Google Shape;153;p17" descr="image.png"/>
              <p:cNvPicPr preferRelativeResize="0"/>
              <p:nvPr/>
            </p:nvPicPr>
            <p:blipFill rotWithShape="1">
              <a:blip r:embed="rId9">
                <a:alphaModFix/>
              </a:blip>
              <a:srcRect/>
              <a:stretch/>
            </p:blipFill>
            <p:spPr>
              <a:xfrm>
                <a:off x="4841825" y="2757785"/>
                <a:ext cx="285750" cy="2286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573FA7C7-A494-C0A2-B5BF-6810C0AB1A8B}"/>
              </a:ext>
            </a:extLst>
          </p:cNvPr>
          <p:cNvGrpSpPr/>
          <p:nvPr/>
        </p:nvGrpSpPr>
        <p:grpSpPr>
          <a:xfrm>
            <a:off x="762000" y="4887857"/>
            <a:ext cx="3365450" cy="1749535"/>
            <a:chOff x="8064400" y="2262485"/>
            <a:chExt cx="3365450" cy="1749535"/>
          </a:xfrm>
        </p:grpSpPr>
        <p:pic>
          <p:nvPicPr>
            <p:cNvPr id="139" name="Google Shape;139;p17" descr="image.png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8064400" y="2262485"/>
              <a:ext cx="3365450" cy="174953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0" name="Google Shape;150;p17"/>
            <p:cNvSpPr txBox="1"/>
            <p:nvPr/>
          </p:nvSpPr>
          <p:spPr>
            <a:xfrm>
              <a:off x="8784446" y="2619375"/>
              <a:ext cx="1672808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i="0" u="none" strike="noStrike" cap="none" dirty="0">
                  <a:solidFill>
                    <a:srgbClr val="008489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Redeposition</a:t>
              </a:r>
              <a:endParaRPr dirty="0"/>
            </a:p>
          </p:txBody>
        </p:sp>
        <p:sp>
          <p:nvSpPr>
            <p:cNvPr id="151" name="Google Shape;151;p17"/>
            <p:cNvSpPr txBox="1"/>
            <p:nvPr/>
          </p:nvSpPr>
          <p:spPr>
            <a:xfrm>
              <a:off x="8350150" y="3096084"/>
              <a:ext cx="2793950" cy="7109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>
                  <a:solidFill>
                    <a:srgbClr val="333333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Mn</a:t>
              </a:r>
              <a:r>
                <a:rPr lang="en-US" sz="1650" b="0" i="0" u="none" strike="noStrike" cap="none" baseline="30000" dirty="0">
                  <a:solidFill>
                    <a:srgbClr val="333333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3+</a:t>
              </a:r>
              <a:r>
                <a:rPr lang="en-US" sz="1650" b="0" i="0" u="none" strike="noStrike" cap="none" dirty="0">
                  <a:solidFill>
                    <a:srgbClr val="333333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forms and oxidizes back to bulk oxide.</a:t>
              </a:r>
              <a:endParaRPr dirty="0"/>
            </a:p>
          </p:txBody>
        </p:sp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466CBF79-06DA-14F4-A88F-A2F6262653E9}"/>
                </a:ext>
              </a:extLst>
            </p:cNvPr>
            <p:cNvGrpSpPr/>
            <p:nvPr/>
          </p:nvGrpSpPr>
          <p:grpSpPr>
            <a:xfrm>
              <a:off x="8350150" y="2586335"/>
              <a:ext cx="334074" cy="334074"/>
              <a:chOff x="8350150" y="2586335"/>
              <a:chExt cx="571500" cy="571500"/>
            </a:xfrm>
          </p:grpSpPr>
          <p:pic>
            <p:nvPicPr>
              <p:cNvPr id="149" name="Google Shape;149;p17" descr="image.png"/>
              <p:cNvPicPr preferRelativeResize="0"/>
              <p:nvPr/>
            </p:nvPicPr>
            <p:blipFill rotWithShape="1">
              <a:blip r:embed="rId11">
                <a:alphaModFix/>
              </a:blip>
              <a:srcRect/>
              <a:stretch/>
            </p:blipFill>
            <p:spPr>
              <a:xfrm>
                <a:off x="8350150" y="2586335"/>
                <a:ext cx="571500" cy="5715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54" name="Google Shape;154;p17" descr="image.png"/>
              <p:cNvPicPr preferRelativeResize="0"/>
              <p:nvPr/>
            </p:nvPicPr>
            <p:blipFill rotWithShape="1">
              <a:blip r:embed="rId12">
                <a:alphaModFix/>
              </a:blip>
              <a:srcRect/>
              <a:stretch/>
            </p:blipFill>
            <p:spPr>
              <a:xfrm>
                <a:off x="8521600" y="2757785"/>
                <a:ext cx="228600" cy="2286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60541BCE-2F97-07D1-AA7E-F023CA2CE3FE}"/>
              </a:ext>
            </a:extLst>
          </p:cNvPr>
          <p:cNvGrpSpPr/>
          <p:nvPr/>
        </p:nvGrpSpPr>
        <p:grpSpPr>
          <a:xfrm>
            <a:off x="4227672" y="1799418"/>
            <a:ext cx="7674964" cy="4403820"/>
            <a:chOff x="4517036" y="1799418"/>
            <a:chExt cx="7674964" cy="4403820"/>
          </a:xfrm>
        </p:grpSpPr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58E28F50-E4C1-05F3-2744-5B95A9CA3C54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5971082" y="1799418"/>
              <a:ext cx="4766872" cy="3803597"/>
            </a:xfrm>
            <a:prstGeom prst="rect">
              <a:avLst/>
            </a:prstGeom>
          </p:spPr>
        </p:pic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B337C3DA-04CB-9433-3F79-4B1FF3746B3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4517036" y="5788300"/>
              <a:ext cx="7674964" cy="414938"/>
            </a:xfrm>
            <a:prstGeom prst="rect">
              <a:avLst/>
            </a:prstGeom>
          </p:spPr>
        </p:pic>
        <p:sp>
          <p:nvSpPr>
            <p:cNvPr id="15" name="任意多边形: 形状 14">
              <a:extLst>
                <a:ext uri="{FF2B5EF4-FFF2-40B4-BE49-F238E27FC236}">
                  <a16:creationId xmlns:a16="http://schemas.microsoft.com/office/drawing/2014/main" id="{DB883341-7FB3-37AD-D2D9-FFF489F0FDAF}"/>
                </a:ext>
              </a:extLst>
            </p:cNvPr>
            <p:cNvSpPr/>
            <p:nvPr/>
          </p:nvSpPr>
          <p:spPr>
            <a:xfrm>
              <a:off x="8554720" y="2317039"/>
              <a:ext cx="754380" cy="1452126"/>
            </a:xfrm>
            <a:custGeom>
              <a:avLst/>
              <a:gdLst>
                <a:gd name="csX0" fmla="*/ 278789 w 715669"/>
                <a:gd name="csY0" fmla="*/ 1427483 h 1427483"/>
                <a:gd name="csX1" fmla="*/ 161949 w 715669"/>
                <a:gd name="csY1" fmla="*/ 1234443 h 1427483"/>
                <a:gd name="csX2" fmla="*/ 37489 w 715669"/>
                <a:gd name="csY2" fmla="*/ 947423 h 1427483"/>
                <a:gd name="csX3" fmla="*/ 4469 w 715669"/>
                <a:gd name="csY3" fmla="*/ 751843 h 1427483"/>
                <a:gd name="csX4" fmla="*/ 14629 w 715669"/>
                <a:gd name="csY4" fmla="*/ 584203 h 1427483"/>
                <a:gd name="csX5" fmla="*/ 134009 w 715669"/>
                <a:gd name="csY5" fmla="*/ 342903 h 1427483"/>
                <a:gd name="csX6" fmla="*/ 357529 w 715669"/>
                <a:gd name="csY6" fmla="*/ 162563 h 1427483"/>
                <a:gd name="csX7" fmla="*/ 626769 w 715669"/>
                <a:gd name="csY7" fmla="*/ 25403 h 1427483"/>
                <a:gd name="csX8" fmla="*/ 715669 w 715669"/>
                <a:gd name="csY8" fmla="*/ 5083 h 142748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715669" h="1427483">
                  <a:moveTo>
                    <a:pt x="278789" y="1427483"/>
                  </a:moveTo>
                  <a:cubicBezTo>
                    <a:pt x="240477" y="1370968"/>
                    <a:pt x="202166" y="1314453"/>
                    <a:pt x="161949" y="1234443"/>
                  </a:cubicBezTo>
                  <a:cubicBezTo>
                    <a:pt x="121732" y="1154433"/>
                    <a:pt x="63736" y="1027856"/>
                    <a:pt x="37489" y="947423"/>
                  </a:cubicBezTo>
                  <a:cubicBezTo>
                    <a:pt x="11242" y="866990"/>
                    <a:pt x="8279" y="812380"/>
                    <a:pt x="4469" y="751843"/>
                  </a:cubicBezTo>
                  <a:cubicBezTo>
                    <a:pt x="659" y="691306"/>
                    <a:pt x="-6961" y="652360"/>
                    <a:pt x="14629" y="584203"/>
                  </a:cubicBezTo>
                  <a:cubicBezTo>
                    <a:pt x="36219" y="516046"/>
                    <a:pt x="76859" y="413176"/>
                    <a:pt x="134009" y="342903"/>
                  </a:cubicBezTo>
                  <a:cubicBezTo>
                    <a:pt x="191159" y="272630"/>
                    <a:pt x="275402" y="215480"/>
                    <a:pt x="357529" y="162563"/>
                  </a:cubicBezTo>
                  <a:cubicBezTo>
                    <a:pt x="439656" y="109646"/>
                    <a:pt x="567079" y="51650"/>
                    <a:pt x="626769" y="25403"/>
                  </a:cubicBezTo>
                  <a:cubicBezTo>
                    <a:pt x="686459" y="-844"/>
                    <a:pt x="698736" y="-5077"/>
                    <a:pt x="715669" y="5083"/>
                  </a:cubicBezTo>
                </a:path>
              </a:pathLst>
            </a:custGeom>
            <a:noFill/>
            <a:ln w="57150">
              <a:solidFill>
                <a:srgbClr val="D64493"/>
              </a:solidFill>
              <a:tailEnd type="triangle" w="lg" len="lg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63A26E6D-A2CC-3EF5-0170-3776BEE341E5}"/>
                </a:ext>
              </a:extLst>
            </p:cNvPr>
            <p:cNvSpPr/>
            <p:nvPr/>
          </p:nvSpPr>
          <p:spPr>
            <a:xfrm>
              <a:off x="9347835" y="2070427"/>
              <a:ext cx="504825" cy="504825"/>
            </a:xfrm>
            <a:prstGeom prst="ellipse">
              <a:avLst/>
            </a:prstGeom>
            <a:gradFill flip="none" rotWithShape="1">
              <a:gsLst>
                <a:gs pos="0">
                  <a:schemeClr val="bg1"/>
                </a:gs>
                <a:gs pos="100000">
                  <a:srgbClr val="D64493"/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rgbClr val="D6449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100" dirty="0">
                  <a:solidFill>
                    <a:schemeClr val="tx1"/>
                  </a:solidFill>
                </a:rPr>
                <a:t>Mn</a:t>
              </a:r>
              <a:r>
                <a:rPr lang="en-US" altLang="zh-CN" sz="1100" baseline="30000" dirty="0">
                  <a:solidFill>
                    <a:schemeClr val="tx1"/>
                  </a:solidFill>
                </a:rPr>
                <a:t>7+</a:t>
              </a:r>
              <a:endParaRPr lang="zh-CN" altLang="en-US" sz="1100" baseline="30000" dirty="0">
                <a:solidFill>
                  <a:schemeClr val="tx1"/>
                </a:solidFill>
              </a:endParaRPr>
            </a:p>
          </p:txBody>
        </p:sp>
        <p:cxnSp>
          <p:nvCxnSpPr>
            <p:cNvPr id="17" name="直接箭头连接符 16">
              <a:extLst>
                <a:ext uri="{FF2B5EF4-FFF2-40B4-BE49-F238E27FC236}">
                  <a16:creationId xmlns:a16="http://schemas.microsoft.com/office/drawing/2014/main" id="{F0EE9A22-D5CE-9C56-706A-09D9D0277ADD}"/>
                </a:ext>
              </a:extLst>
            </p:cNvPr>
            <p:cNvCxnSpPr/>
            <p:nvPr/>
          </p:nvCxnSpPr>
          <p:spPr>
            <a:xfrm>
              <a:off x="8590280" y="6000849"/>
              <a:ext cx="345440" cy="0"/>
            </a:xfrm>
            <a:prstGeom prst="straightConnector1">
              <a:avLst/>
            </a:prstGeom>
            <a:ln w="38100">
              <a:solidFill>
                <a:srgbClr val="D6449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2CC2A86C-4B45-E7E2-D1D0-30911EF09493}"/>
              </a:ext>
            </a:extLst>
          </p:cNvPr>
          <p:cNvSpPr/>
          <p:nvPr/>
        </p:nvSpPr>
        <p:spPr>
          <a:xfrm>
            <a:off x="9563296" y="2201642"/>
            <a:ext cx="1450585" cy="3007440"/>
          </a:xfrm>
          <a:custGeom>
            <a:avLst/>
            <a:gdLst>
              <a:gd name="csX0" fmla="*/ 44970 w 1379756"/>
              <a:gd name="csY0" fmla="*/ 76863 h 3007440"/>
              <a:gd name="csX1" fmla="*/ 831954 w 1379756"/>
              <a:gd name="csY1" fmla="*/ 189289 h 3007440"/>
              <a:gd name="csX2" fmla="*/ 1379095 w 1379756"/>
              <a:gd name="csY2" fmla="*/ 1718286 h 3007440"/>
              <a:gd name="csX3" fmla="*/ 921895 w 1379756"/>
              <a:gd name="csY3" fmla="*/ 2767597 h 3007440"/>
              <a:gd name="csX4" fmla="*/ 0 w 1379756"/>
              <a:gd name="csY4" fmla="*/ 3007440 h 300744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379756" h="3007440">
                <a:moveTo>
                  <a:pt x="44970" y="76863"/>
                </a:moveTo>
                <a:cubicBezTo>
                  <a:pt x="327285" y="-3709"/>
                  <a:pt x="609600" y="-84281"/>
                  <a:pt x="831954" y="189289"/>
                </a:cubicBezTo>
                <a:cubicBezTo>
                  <a:pt x="1054308" y="462859"/>
                  <a:pt x="1364105" y="1288568"/>
                  <a:pt x="1379095" y="1718286"/>
                </a:cubicBezTo>
                <a:cubicBezTo>
                  <a:pt x="1394085" y="2148004"/>
                  <a:pt x="1151744" y="2552738"/>
                  <a:pt x="921895" y="2767597"/>
                </a:cubicBezTo>
                <a:cubicBezTo>
                  <a:pt x="692046" y="2982456"/>
                  <a:pt x="158646" y="2924994"/>
                  <a:pt x="0" y="3007440"/>
                </a:cubicBezTo>
              </a:path>
            </a:pathLst>
          </a:custGeom>
          <a:noFill/>
          <a:ln w="28575">
            <a:solidFill>
              <a:srgbClr val="00B050"/>
            </a:solidFill>
            <a:tailEnd type="triangle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270573F2-939E-257D-2450-E884CAFFA89F}"/>
              </a:ext>
            </a:extLst>
          </p:cNvPr>
          <p:cNvSpPr/>
          <p:nvPr/>
        </p:nvSpPr>
        <p:spPr>
          <a:xfrm>
            <a:off x="10218741" y="3625488"/>
            <a:ext cx="702156" cy="819096"/>
          </a:xfrm>
          <a:custGeom>
            <a:avLst/>
            <a:gdLst>
              <a:gd name="csX0" fmla="*/ 0 w 702156"/>
              <a:gd name="csY0" fmla="*/ 361896 h 819096"/>
              <a:gd name="csX1" fmla="*/ 262328 w 702156"/>
              <a:gd name="csY1" fmla="*/ 2132 h 819096"/>
              <a:gd name="csX2" fmla="*/ 652072 w 702156"/>
              <a:gd name="csY2" fmla="*/ 241974 h 819096"/>
              <a:gd name="csX3" fmla="*/ 697043 w 702156"/>
              <a:gd name="csY3" fmla="*/ 819096 h 81909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702156" h="819096">
                <a:moveTo>
                  <a:pt x="0" y="361896"/>
                </a:moveTo>
                <a:cubicBezTo>
                  <a:pt x="76824" y="192007"/>
                  <a:pt x="153649" y="22119"/>
                  <a:pt x="262328" y="2132"/>
                </a:cubicBezTo>
                <a:cubicBezTo>
                  <a:pt x="371007" y="-17855"/>
                  <a:pt x="579620" y="105813"/>
                  <a:pt x="652072" y="241974"/>
                </a:cubicBezTo>
                <a:cubicBezTo>
                  <a:pt x="724524" y="378135"/>
                  <a:pt x="697043" y="696676"/>
                  <a:pt x="697043" y="819096"/>
                </a:cubicBezTo>
              </a:path>
            </a:pathLst>
          </a:cu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8319FBD6-412B-ED7D-0675-9B3EA1A1A535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031988" y="6135738"/>
            <a:ext cx="5486400" cy="384202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35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35" presetClass="emph" presetSubtype="0" repeatCount="3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35" presetClass="emph" presetSubtype="0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8" grpId="1" animBg="1"/>
      <p:bldP spid="19" grpId="0" animBg="1"/>
      <p:bldP spid="19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8"/>
          <p:cNvSpPr txBox="1"/>
          <p:nvPr/>
        </p:nvSpPr>
        <p:spPr>
          <a:xfrm>
            <a:off x="762000" y="571500"/>
            <a:ext cx="11201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 dirty="0">
                <a:solidFill>
                  <a:srgbClr val="002B49"/>
                </a:solidFill>
                <a:latin typeface="Public Sans"/>
                <a:ea typeface="Public Sans"/>
                <a:cs typeface="Public Sans"/>
                <a:sym typeface="Public Sans"/>
              </a:rPr>
              <a:t>RIGOROUS TESTING SETUP</a:t>
            </a:r>
            <a:endParaRPr dirty="0"/>
          </a:p>
        </p:txBody>
      </p:sp>
      <p:sp>
        <p:nvSpPr>
          <p:cNvPr id="161" name="Google Shape;161;p18"/>
          <p:cNvSpPr/>
          <p:nvPr/>
        </p:nvSpPr>
        <p:spPr>
          <a:xfrm>
            <a:off x="762000" y="1095375"/>
            <a:ext cx="10668000" cy="28575"/>
          </a:xfrm>
          <a:prstGeom prst="rect">
            <a:avLst/>
          </a:prstGeom>
          <a:solidFill>
            <a:srgbClr val="00848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8"/>
          <p:cNvSpPr txBox="1"/>
          <p:nvPr/>
        </p:nvSpPr>
        <p:spPr>
          <a:xfrm>
            <a:off x="8418830" y="4244702"/>
            <a:ext cx="3544570" cy="35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Environment:</a:t>
            </a:r>
            <a:r>
              <a:rPr lang="en-US" sz="1650" b="0" i="0" u="none" strike="noStrike" cap="none" dirty="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 Sulfuric Acid (pH 2)</a:t>
            </a:r>
            <a:endParaRPr dirty="0"/>
          </a:p>
        </p:txBody>
      </p:sp>
      <p:sp>
        <p:nvSpPr>
          <p:cNvPr id="164" name="Google Shape;164;p18"/>
          <p:cNvSpPr txBox="1"/>
          <p:nvPr/>
        </p:nvSpPr>
        <p:spPr>
          <a:xfrm>
            <a:off x="8418830" y="4679115"/>
            <a:ext cx="3544570" cy="35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Additive:</a:t>
            </a:r>
            <a:r>
              <a:rPr lang="en-US" sz="1650" b="0" i="0" u="none" strike="noStrike" cap="none" dirty="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 1.0 M Phosphate</a:t>
            </a:r>
            <a:endParaRPr dirty="0"/>
          </a:p>
        </p:txBody>
      </p:sp>
      <p:sp>
        <p:nvSpPr>
          <p:cNvPr id="165" name="Google Shape;165;p18"/>
          <p:cNvSpPr txBox="1"/>
          <p:nvPr/>
        </p:nvSpPr>
        <p:spPr>
          <a:xfrm>
            <a:off x="8418830" y="5113528"/>
            <a:ext cx="3544570" cy="35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Fluctuation Simulation:</a:t>
            </a:r>
            <a:endParaRPr dirty="0"/>
          </a:p>
        </p:txBody>
      </p:sp>
      <p:sp>
        <p:nvSpPr>
          <p:cNvPr id="167" name="Google Shape;167;p18"/>
          <p:cNvSpPr txBox="1"/>
          <p:nvPr/>
        </p:nvSpPr>
        <p:spPr>
          <a:xfrm>
            <a:off x="8609330" y="5547942"/>
            <a:ext cx="3410813" cy="35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High pulse: 3.00 V (8 min)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8609330" y="5982356"/>
            <a:ext cx="3410813" cy="35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Base potential: 1.68 V (3 h)</a:t>
            </a:r>
            <a:endParaRPr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4CD149D3-15C0-A5BD-462C-E6C3966478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1365757"/>
            <a:ext cx="10546080" cy="2505899"/>
          </a:xfrm>
          <a:prstGeom prst="rect">
            <a:avLst/>
          </a:prstGeom>
        </p:spPr>
      </p:pic>
      <p:grpSp>
        <p:nvGrpSpPr>
          <p:cNvPr id="7" name="组合 6">
            <a:extLst>
              <a:ext uri="{FF2B5EF4-FFF2-40B4-BE49-F238E27FC236}">
                <a16:creationId xmlns:a16="http://schemas.microsoft.com/office/drawing/2014/main" id="{7FAA2D33-2F7E-F7EF-8BF8-7527415E520E}"/>
              </a:ext>
            </a:extLst>
          </p:cNvPr>
          <p:cNvGrpSpPr/>
          <p:nvPr/>
        </p:nvGrpSpPr>
        <p:grpSpPr>
          <a:xfrm>
            <a:off x="629920" y="4164959"/>
            <a:ext cx="7538720" cy="1982887"/>
            <a:chOff x="629920" y="4164959"/>
            <a:chExt cx="7538720" cy="1982887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71A810E0-A94D-F1F0-FC44-C056AC6276E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29920" y="4164959"/>
              <a:ext cx="7538720" cy="1921596"/>
            </a:xfrm>
            <a:prstGeom prst="rect">
              <a:avLst/>
            </a:prstGeom>
          </p:spPr>
        </p:pic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0FF5B9C8-4E95-838E-859A-B6AC61192C72}"/>
                </a:ext>
              </a:extLst>
            </p:cNvPr>
            <p:cNvSpPr/>
            <p:nvPr/>
          </p:nvSpPr>
          <p:spPr>
            <a:xfrm>
              <a:off x="762000" y="4244702"/>
              <a:ext cx="203200" cy="35548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6E96B40F-A192-335A-9C09-F1D2F4383D4B}"/>
                </a:ext>
              </a:extLst>
            </p:cNvPr>
            <p:cNvSpPr/>
            <p:nvPr/>
          </p:nvSpPr>
          <p:spPr>
            <a:xfrm>
              <a:off x="5689600" y="4244702"/>
              <a:ext cx="203200" cy="35548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9DB985B9-818A-94FF-9684-355F41FD65C5}"/>
                </a:ext>
              </a:extLst>
            </p:cNvPr>
            <p:cNvSpPr/>
            <p:nvPr/>
          </p:nvSpPr>
          <p:spPr>
            <a:xfrm>
              <a:off x="762000" y="5792364"/>
              <a:ext cx="203200" cy="35548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0"/>
          <p:cNvSpPr txBox="1"/>
          <p:nvPr/>
        </p:nvSpPr>
        <p:spPr>
          <a:xfrm>
            <a:off x="762000" y="571500"/>
            <a:ext cx="11201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02B49"/>
                </a:solidFill>
                <a:latin typeface="Public Sans"/>
                <a:ea typeface="Public Sans"/>
                <a:cs typeface="Public Sans"/>
                <a:sym typeface="Public Sans"/>
              </a:rPr>
              <a:t>COMPARATIVE ANALYSIS</a:t>
            </a:r>
            <a:endParaRPr/>
          </a:p>
        </p:txBody>
      </p:sp>
      <p:sp>
        <p:nvSpPr>
          <p:cNvPr id="191" name="Google Shape;191;p20"/>
          <p:cNvSpPr/>
          <p:nvPr/>
        </p:nvSpPr>
        <p:spPr>
          <a:xfrm>
            <a:off x="762000" y="1095375"/>
            <a:ext cx="10668000" cy="28575"/>
          </a:xfrm>
          <a:prstGeom prst="rect">
            <a:avLst/>
          </a:prstGeom>
          <a:solidFill>
            <a:srgbClr val="00848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0525EC01-7D95-1AC1-712C-74D2F679D5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2728658"/>
            <a:ext cx="2877977" cy="2070798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8FD6CDB9-55BC-A808-FAED-5B56358B0EC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105"/>
          <a:stretch>
            <a:fillRect/>
          </a:stretch>
        </p:blipFill>
        <p:spPr>
          <a:xfrm>
            <a:off x="3738880" y="2882646"/>
            <a:ext cx="7894320" cy="1733815"/>
          </a:xfrm>
          <a:prstGeom prst="rect">
            <a:avLst/>
          </a:prstGeom>
        </p:spPr>
      </p:pic>
      <p:sp>
        <p:nvSpPr>
          <p:cNvPr id="8" name="矩形: 圆角 7">
            <a:extLst>
              <a:ext uri="{FF2B5EF4-FFF2-40B4-BE49-F238E27FC236}">
                <a16:creationId xmlns:a16="http://schemas.microsoft.com/office/drawing/2014/main" id="{1947C6FC-5DC0-E6DC-BF6D-FF195ACF08C2}"/>
              </a:ext>
            </a:extLst>
          </p:cNvPr>
          <p:cNvSpPr/>
          <p:nvPr/>
        </p:nvSpPr>
        <p:spPr>
          <a:xfrm>
            <a:off x="1491469" y="1648320"/>
            <a:ext cx="2148508" cy="505474"/>
          </a:xfrm>
          <a:prstGeom prst="roundRect">
            <a:avLst/>
          </a:prstGeom>
          <a:solidFill>
            <a:srgbClr val="EABB4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800" dirty="0">
                <a:latin typeface="Open Serif Semibold" panose="02060802040506020404" pitchFamily="18" charset="0"/>
              </a:rPr>
              <a:t>Sulfuric Acid</a:t>
            </a:r>
            <a:endParaRPr lang="zh-CN" altLang="en-US" sz="1800" dirty="0">
              <a:latin typeface="Open Serif Semibold" panose="02060802040506020404" pitchFamily="18" charset="0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8B5443C7-40DD-0D91-62AF-EC178EC7912C}"/>
              </a:ext>
            </a:extLst>
          </p:cNvPr>
          <p:cNvSpPr/>
          <p:nvPr/>
        </p:nvSpPr>
        <p:spPr>
          <a:xfrm>
            <a:off x="6652748" y="1648320"/>
            <a:ext cx="2359171" cy="505474"/>
          </a:xfrm>
          <a:prstGeom prst="roundRect">
            <a:avLst/>
          </a:prstGeom>
          <a:solidFill>
            <a:srgbClr val="78BF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800" dirty="0">
                <a:latin typeface="Open Serif Semibold" panose="02060802040506020404" pitchFamily="18" charset="0"/>
              </a:rPr>
              <a:t>+ Phosphoric Acid</a:t>
            </a:r>
            <a:endParaRPr lang="zh-CN" altLang="en-US" sz="1800" dirty="0">
              <a:latin typeface="Open Serif Semibold" panose="02060802040506020404" pitchFamily="18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8865386-43DC-181B-D60E-BBAEDF482C7E}"/>
              </a:ext>
            </a:extLst>
          </p:cNvPr>
          <p:cNvSpPr/>
          <p:nvPr/>
        </p:nvSpPr>
        <p:spPr>
          <a:xfrm>
            <a:off x="2324262" y="5521317"/>
            <a:ext cx="7543477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3200" b="1" cap="none" spc="0" dirty="0">
                <a:ln w="22225">
                  <a:noFill/>
                  <a:prstDash val="solid"/>
                </a:ln>
                <a:solidFill>
                  <a:srgbClr val="78BFBF"/>
                </a:solidFill>
                <a:effectLst/>
              </a:rPr>
              <a:t>UNPRECEDENTED LONGEVITY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1">
          <a:extLst>
            <a:ext uri="{FF2B5EF4-FFF2-40B4-BE49-F238E27FC236}">
              <a16:creationId xmlns:a16="http://schemas.microsoft.com/office/drawing/2014/main" id="{DBA754A9-1F92-038E-1DE7-A98BB5156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0">
            <a:extLst>
              <a:ext uri="{FF2B5EF4-FFF2-40B4-BE49-F238E27FC236}">
                <a16:creationId xmlns:a16="http://schemas.microsoft.com/office/drawing/2014/main" id="{3A705ADC-C703-0DDA-9CCB-B51B17DA4634}"/>
              </a:ext>
            </a:extLst>
          </p:cNvPr>
          <p:cNvSpPr txBox="1"/>
          <p:nvPr/>
        </p:nvSpPr>
        <p:spPr>
          <a:xfrm>
            <a:off x="762000" y="571500"/>
            <a:ext cx="11201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02B49"/>
                </a:solidFill>
                <a:latin typeface="Public Sans"/>
                <a:ea typeface="Public Sans"/>
                <a:cs typeface="Public Sans"/>
                <a:sym typeface="Public Sans"/>
              </a:rPr>
              <a:t>COMPARATIVE ANALYSIS</a:t>
            </a:r>
            <a:endParaRPr/>
          </a:p>
        </p:txBody>
      </p:sp>
      <p:sp>
        <p:nvSpPr>
          <p:cNvPr id="191" name="Google Shape;191;p20">
            <a:extLst>
              <a:ext uri="{FF2B5EF4-FFF2-40B4-BE49-F238E27FC236}">
                <a16:creationId xmlns:a16="http://schemas.microsoft.com/office/drawing/2014/main" id="{BED26725-DAC2-AAEE-5D48-3E5E8B50D99C}"/>
              </a:ext>
            </a:extLst>
          </p:cNvPr>
          <p:cNvSpPr/>
          <p:nvPr/>
        </p:nvSpPr>
        <p:spPr>
          <a:xfrm>
            <a:off x="762000" y="1095375"/>
            <a:ext cx="10668000" cy="28575"/>
          </a:xfrm>
          <a:prstGeom prst="rect">
            <a:avLst/>
          </a:prstGeom>
          <a:solidFill>
            <a:srgbClr val="00848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C3461F7D-609D-5DA3-BBC9-A128B29056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2728658"/>
            <a:ext cx="2877977" cy="2070798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2396CE64-6988-B796-166C-D2961EC9BCE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105"/>
          <a:stretch>
            <a:fillRect/>
          </a:stretch>
        </p:blipFill>
        <p:spPr>
          <a:xfrm>
            <a:off x="3738880" y="2882646"/>
            <a:ext cx="7894320" cy="1733815"/>
          </a:xfrm>
          <a:prstGeom prst="rect">
            <a:avLst/>
          </a:prstGeom>
        </p:spPr>
      </p:pic>
      <p:sp>
        <p:nvSpPr>
          <p:cNvPr id="8" name="矩形: 圆角 7">
            <a:extLst>
              <a:ext uri="{FF2B5EF4-FFF2-40B4-BE49-F238E27FC236}">
                <a16:creationId xmlns:a16="http://schemas.microsoft.com/office/drawing/2014/main" id="{3163BA1F-0083-588E-854B-7D8A041FBEFC}"/>
              </a:ext>
            </a:extLst>
          </p:cNvPr>
          <p:cNvSpPr/>
          <p:nvPr/>
        </p:nvSpPr>
        <p:spPr>
          <a:xfrm>
            <a:off x="1491469" y="1648320"/>
            <a:ext cx="2148508" cy="505474"/>
          </a:xfrm>
          <a:prstGeom prst="roundRect">
            <a:avLst/>
          </a:prstGeom>
          <a:solidFill>
            <a:srgbClr val="EABB4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800" dirty="0">
                <a:latin typeface="Open Serif Semibold" panose="02060802040506020404" pitchFamily="18" charset="0"/>
              </a:rPr>
              <a:t>Sulfuric Acid</a:t>
            </a:r>
            <a:endParaRPr lang="zh-CN" altLang="en-US" sz="1800" dirty="0">
              <a:latin typeface="Open Serif Semibold" panose="02060802040506020404" pitchFamily="18" charset="0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B4FCB91C-8344-1FA7-8301-73C7A3C6A5E6}"/>
              </a:ext>
            </a:extLst>
          </p:cNvPr>
          <p:cNvSpPr/>
          <p:nvPr/>
        </p:nvSpPr>
        <p:spPr>
          <a:xfrm>
            <a:off x="6652748" y="1648320"/>
            <a:ext cx="2359171" cy="505474"/>
          </a:xfrm>
          <a:prstGeom prst="roundRect">
            <a:avLst/>
          </a:prstGeom>
          <a:solidFill>
            <a:srgbClr val="78BF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800" dirty="0">
                <a:latin typeface="Open Serif Semibold" panose="02060802040506020404" pitchFamily="18" charset="0"/>
              </a:rPr>
              <a:t>+ Phosphoric Acid</a:t>
            </a:r>
            <a:endParaRPr lang="zh-CN" altLang="en-US" sz="1800" dirty="0">
              <a:latin typeface="Open Serif Semibold" panose="02060802040506020404" pitchFamily="18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DA19920-ED36-E121-6911-0F1989BE8DEC}"/>
              </a:ext>
            </a:extLst>
          </p:cNvPr>
          <p:cNvSpPr/>
          <p:nvPr/>
        </p:nvSpPr>
        <p:spPr>
          <a:xfrm>
            <a:off x="2324262" y="5521317"/>
            <a:ext cx="7543477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3200" b="1" cap="none" spc="0" dirty="0">
                <a:ln w="22225">
                  <a:noFill/>
                  <a:prstDash val="solid"/>
                </a:ln>
                <a:solidFill>
                  <a:srgbClr val="78BFBF"/>
                </a:solidFill>
                <a:effectLst/>
              </a:rPr>
              <a:t>UNPRECEDENTED LONGEVITY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910695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1">
          <a:extLst>
            <a:ext uri="{FF2B5EF4-FFF2-40B4-BE49-F238E27FC236}">
              <a16:creationId xmlns:a16="http://schemas.microsoft.com/office/drawing/2014/main" id="{388AE7A5-DA05-FBD5-FB56-A2C41AF46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0">
            <a:extLst>
              <a:ext uri="{FF2B5EF4-FFF2-40B4-BE49-F238E27FC236}">
                <a16:creationId xmlns:a16="http://schemas.microsoft.com/office/drawing/2014/main" id="{90EEED25-E0C0-4917-E767-F604ACC791A6}"/>
              </a:ext>
            </a:extLst>
          </p:cNvPr>
          <p:cNvSpPr txBox="1"/>
          <p:nvPr/>
        </p:nvSpPr>
        <p:spPr>
          <a:xfrm>
            <a:off x="762000" y="571500"/>
            <a:ext cx="11201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02B49"/>
                </a:solidFill>
                <a:latin typeface="Public Sans"/>
                <a:ea typeface="Public Sans"/>
                <a:cs typeface="Public Sans"/>
                <a:sym typeface="Public Sans"/>
              </a:rPr>
              <a:t>COMPARATIVE ANALYSIS</a:t>
            </a:r>
            <a:endParaRPr/>
          </a:p>
        </p:txBody>
      </p:sp>
      <p:sp>
        <p:nvSpPr>
          <p:cNvPr id="191" name="Google Shape;191;p20">
            <a:extLst>
              <a:ext uri="{FF2B5EF4-FFF2-40B4-BE49-F238E27FC236}">
                <a16:creationId xmlns:a16="http://schemas.microsoft.com/office/drawing/2014/main" id="{B948FC43-CE14-D8FD-0AD2-2177803DD96E}"/>
              </a:ext>
            </a:extLst>
          </p:cNvPr>
          <p:cNvSpPr/>
          <p:nvPr/>
        </p:nvSpPr>
        <p:spPr>
          <a:xfrm>
            <a:off x="762000" y="1095375"/>
            <a:ext cx="10668000" cy="28575"/>
          </a:xfrm>
          <a:prstGeom prst="rect">
            <a:avLst/>
          </a:prstGeom>
          <a:solidFill>
            <a:srgbClr val="00848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2FB3615-F9C2-F877-C731-B771025ECAF4}"/>
              </a:ext>
            </a:extLst>
          </p:cNvPr>
          <p:cNvSpPr/>
          <p:nvPr/>
        </p:nvSpPr>
        <p:spPr>
          <a:xfrm>
            <a:off x="2324262" y="6174459"/>
            <a:ext cx="7543477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3200" b="1" cap="none" spc="0" dirty="0">
                <a:ln w="22225">
                  <a:noFill/>
                  <a:prstDash val="solid"/>
                </a:ln>
                <a:solidFill>
                  <a:srgbClr val="78BFBF"/>
                </a:solidFill>
                <a:effectLst/>
              </a:rPr>
              <a:t>UNPRECEDENTED LONGEVITY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76266F1-4E38-2A41-B7DB-6E44819E7219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735472" y="1184875"/>
            <a:ext cx="8721056" cy="510162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3747236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228850"/>
            <a:ext cx="504825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1"/>
          <p:cNvSpPr txBox="1"/>
          <p:nvPr/>
        </p:nvSpPr>
        <p:spPr>
          <a:xfrm>
            <a:off x="762000" y="571500"/>
            <a:ext cx="11201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02B49"/>
                </a:solidFill>
                <a:latin typeface="Public Sans"/>
                <a:ea typeface="Public Sans"/>
                <a:cs typeface="Public Sans"/>
                <a:sym typeface="Public Sans"/>
              </a:rPr>
              <a:t>NATURE'S WISDOM</a:t>
            </a:r>
            <a:endParaRPr/>
          </a:p>
        </p:txBody>
      </p:sp>
      <p:sp>
        <p:nvSpPr>
          <p:cNvPr id="202" name="Google Shape;202;p21"/>
          <p:cNvSpPr/>
          <p:nvPr/>
        </p:nvSpPr>
        <p:spPr>
          <a:xfrm>
            <a:off x="762000" y="1095375"/>
            <a:ext cx="10668000" cy="28575"/>
          </a:xfrm>
          <a:prstGeom prst="rect">
            <a:avLst/>
          </a:prstGeom>
          <a:solidFill>
            <a:srgbClr val="00848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1"/>
          <p:cNvSpPr txBox="1"/>
          <p:nvPr/>
        </p:nvSpPr>
        <p:spPr>
          <a:xfrm>
            <a:off x="762000" y="1889712"/>
            <a:ext cx="5048250" cy="103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Why did nature choose Manganese for photosynthesis?</a:t>
            </a:r>
            <a:endParaRPr sz="1800" dirty="0"/>
          </a:p>
        </p:txBody>
      </p:sp>
      <p:pic>
        <p:nvPicPr>
          <p:cNvPr id="204" name="Google Shape;204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228850"/>
            <a:ext cx="504825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1"/>
          <p:cNvSpPr txBox="1"/>
          <p:nvPr/>
        </p:nvSpPr>
        <p:spPr>
          <a:xfrm>
            <a:off x="866775" y="3236565"/>
            <a:ext cx="5048250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955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Resilience &gt; Activity:</a:t>
            </a:r>
            <a:r>
              <a:rPr lang="en-US" sz="2000" b="0" i="0" u="none" strike="noStrike" cap="none" dirty="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 Survival under fluctuating light.</a:t>
            </a:r>
            <a:endParaRPr sz="1800" dirty="0"/>
          </a:p>
        </p:txBody>
      </p:sp>
      <p:sp>
        <p:nvSpPr>
          <p:cNvPr id="206" name="Google Shape;206;p21"/>
          <p:cNvSpPr txBox="1"/>
          <p:nvPr/>
        </p:nvSpPr>
        <p:spPr>
          <a:xfrm>
            <a:off x="866775" y="4574589"/>
            <a:ext cx="5048250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955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Innate Repair:</a:t>
            </a:r>
            <a:r>
              <a:rPr lang="en-US" sz="2000" b="0" i="0" u="none" strike="noStrike" cap="none" dirty="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 Constant supply of Mn</a:t>
            </a:r>
            <a:r>
              <a:rPr lang="en-US" sz="2000" b="0" i="0" u="none" strike="noStrike" cap="none" baseline="30000" dirty="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2+</a:t>
            </a:r>
            <a:r>
              <a:rPr lang="en-US" sz="2000" b="0" i="0" u="none" strike="noStrike" cap="none" dirty="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 allows rebuilding of the active site.</a:t>
            </a:r>
            <a:endParaRPr sz="1800" dirty="0"/>
          </a:p>
        </p:txBody>
      </p:sp>
      <p:pic>
        <p:nvPicPr>
          <p:cNvPr id="207" name="Google Shape;207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0" y="3366478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2000" y="4683001"/>
            <a:ext cx="209550" cy="219075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2"/>
          <p:cNvSpPr txBox="1"/>
          <p:nvPr/>
        </p:nvSpPr>
        <p:spPr>
          <a:xfrm>
            <a:off x="762000" y="571500"/>
            <a:ext cx="11201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02B49"/>
                </a:solidFill>
                <a:latin typeface="Public Sans"/>
                <a:ea typeface="Public Sans"/>
                <a:cs typeface="Public Sans"/>
                <a:sym typeface="Public Sans"/>
              </a:rPr>
              <a:t>IMPACT SUMMARY</a:t>
            </a:r>
            <a:endParaRPr/>
          </a:p>
        </p:txBody>
      </p:sp>
      <p:sp>
        <p:nvSpPr>
          <p:cNvPr id="214" name="Google Shape;214;p22"/>
          <p:cNvSpPr/>
          <p:nvPr/>
        </p:nvSpPr>
        <p:spPr>
          <a:xfrm>
            <a:off x="762000" y="1095375"/>
            <a:ext cx="10668000" cy="28575"/>
          </a:xfrm>
          <a:prstGeom prst="rect">
            <a:avLst/>
          </a:prstGeom>
          <a:solidFill>
            <a:srgbClr val="00848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2"/>
          <p:cNvSpPr txBox="1"/>
          <p:nvPr/>
        </p:nvSpPr>
        <p:spPr>
          <a:xfrm>
            <a:off x="762000" y="3068984"/>
            <a:ext cx="2538090" cy="1615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0" b="1" i="0" u="none" strike="noStrike" cap="none">
                <a:solidFill>
                  <a:srgbClr val="008489"/>
                </a:solidFill>
                <a:latin typeface="Public Sans"/>
                <a:ea typeface="Public Sans"/>
                <a:cs typeface="Public Sans"/>
                <a:sym typeface="Public Sans"/>
              </a:rPr>
              <a:t>15x</a:t>
            </a:r>
            <a:endParaRPr/>
          </a:p>
        </p:txBody>
      </p:sp>
      <p:sp>
        <p:nvSpPr>
          <p:cNvPr id="216" name="Google Shape;216;p22"/>
          <p:cNvSpPr txBox="1"/>
          <p:nvPr/>
        </p:nvSpPr>
        <p:spPr>
          <a:xfrm>
            <a:off x="762000" y="4402484"/>
            <a:ext cx="2538090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2B49"/>
                </a:solidFill>
                <a:latin typeface="Public Sans"/>
                <a:ea typeface="Public Sans"/>
                <a:cs typeface="Public Sans"/>
                <a:sym typeface="Public Sans"/>
              </a:rPr>
              <a:t>Higher Stability</a:t>
            </a:r>
            <a:endParaRPr/>
          </a:p>
        </p:txBody>
      </p:sp>
      <p:sp>
        <p:nvSpPr>
          <p:cNvPr id="217" name="Google Shape;217;p22"/>
          <p:cNvSpPr txBox="1"/>
          <p:nvPr/>
        </p:nvSpPr>
        <p:spPr>
          <a:xfrm>
            <a:off x="4480044" y="1599605"/>
            <a:ext cx="659130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Redefining </a:t>
            </a:r>
            <a:r>
              <a:rPr lang="en-US" sz="2800" b="1" i="0" u="none" strike="noStrike" cap="none" dirty="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Pathway</a:t>
            </a:r>
            <a:r>
              <a:rPr lang="en-US" sz="2400" b="1" i="0" u="none" strike="noStrike" cap="none" dirty="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 Design</a:t>
            </a:r>
            <a:endParaRPr sz="2400" dirty="0"/>
          </a:p>
        </p:txBody>
      </p:sp>
      <p:sp>
        <p:nvSpPr>
          <p:cNvPr id="218" name="Google Shape;218;p22"/>
          <p:cNvSpPr txBox="1"/>
          <p:nvPr/>
        </p:nvSpPr>
        <p:spPr>
          <a:xfrm>
            <a:off x="4480044" y="2437542"/>
            <a:ext cx="6400800" cy="1551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Incorporating self-healing mechanisms allows us to move beyond high-purity, steady-state systems.</a:t>
            </a:r>
            <a:endParaRPr sz="2000" dirty="0"/>
          </a:p>
        </p:txBody>
      </p:sp>
      <p:sp>
        <p:nvSpPr>
          <p:cNvPr id="219" name="Google Shape;219;p22"/>
          <p:cNvSpPr txBox="1"/>
          <p:nvPr/>
        </p:nvSpPr>
        <p:spPr>
          <a:xfrm>
            <a:off x="4480044" y="4395786"/>
            <a:ext cx="6400800" cy="1551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Direct connection to intermittent wind/solar becomes viable without massive battery buffering.</a:t>
            </a:r>
            <a:endParaRPr sz="200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3"/>
          <p:cNvSpPr txBox="1"/>
          <p:nvPr/>
        </p:nvSpPr>
        <p:spPr>
          <a:xfrm>
            <a:off x="762000" y="571500"/>
            <a:ext cx="11201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02B49"/>
                </a:solidFill>
                <a:latin typeface="Public Sans"/>
                <a:ea typeface="Public Sans"/>
                <a:cs typeface="Public Sans"/>
                <a:sym typeface="Public Sans"/>
              </a:rPr>
              <a:t>FUTURE OUTLOOK</a:t>
            </a:r>
            <a:endParaRPr/>
          </a:p>
        </p:txBody>
      </p:sp>
      <p:sp>
        <p:nvSpPr>
          <p:cNvPr id="225" name="Google Shape;225;p23"/>
          <p:cNvSpPr/>
          <p:nvPr/>
        </p:nvSpPr>
        <p:spPr>
          <a:xfrm>
            <a:off x="762000" y="1095375"/>
            <a:ext cx="10668000" cy="28575"/>
          </a:xfrm>
          <a:prstGeom prst="rect">
            <a:avLst/>
          </a:prstGeom>
          <a:solidFill>
            <a:srgbClr val="00848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3"/>
          <p:cNvSpPr txBox="1"/>
          <p:nvPr/>
        </p:nvSpPr>
        <p:spPr>
          <a:xfrm>
            <a:off x="1911302" y="1738848"/>
            <a:ext cx="8534400" cy="103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975" tIns="0" rIns="0" bIns="0" anchor="t" anchorCtr="0">
            <a:spAutoFit/>
          </a:bodyPr>
          <a:lstStyle/>
          <a:p>
            <a:pPr marL="0" marR="0" lvl="0" indent="0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PEM </a:t>
            </a:r>
            <a:r>
              <a:rPr lang="en-US" sz="2400" b="1" i="0" u="none" strike="noStrike" cap="none" dirty="0" err="1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Electrolysers</a:t>
            </a:r>
            <a:r>
              <a:rPr lang="en-US" sz="2400" b="1" i="0" u="none" strike="noStrike" cap="none" dirty="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:</a:t>
            </a:r>
            <a:r>
              <a:rPr lang="en-US" sz="2400" b="0" i="0" u="none" strike="noStrike" cap="none" dirty="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 Modifying the microenvironment for industrial scale.</a:t>
            </a:r>
            <a:endParaRPr sz="2000" dirty="0"/>
          </a:p>
        </p:txBody>
      </p:sp>
      <p:sp>
        <p:nvSpPr>
          <p:cNvPr id="227" name="Google Shape;227;p23"/>
          <p:cNvSpPr txBox="1"/>
          <p:nvPr/>
        </p:nvSpPr>
        <p:spPr>
          <a:xfrm>
            <a:off x="1911302" y="3247379"/>
            <a:ext cx="8534400" cy="103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975" tIns="0" rIns="0" bIns="0" anchor="t" anchorCtr="0">
            <a:spAutoFit/>
          </a:bodyPr>
          <a:lstStyle/>
          <a:p>
            <a:pPr marL="0" marR="0" lvl="0" indent="0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Membrane Tuning:</a:t>
            </a:r>
            <a:r>
              <a:rPr lang="en-US" sz="2400" b="0" i="0" u="none" strike="noStrike" cap="none" dirty="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 Integrating phosphate groups into </a:t>
            </a:r>
            <a:r>
              <a:rPr lang="en-US" sz="2400" b="0" i="0" u="none" strike="noStrike" cap="none" dirty="0" err="1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Nafion</a:t>
            </a:r>
            <a:r>
              <a:rPr lang="en-US" sz="2400" b="0" i="0" u="none" strike="noStrike" cap="none" dirty="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 membranes.</a:t>
            </a:r>
            <a:endParaRPr sz="2000" dirty="0"/>
          </a:p>
        </p:txBody>
      </p:sp>
      <p:sp>
        <p:nvSpPr>
          <p:cNvPr id="228" name="Google Shape;228;p23"/>
          <p:cNvSpPr txBox="1"/>
          <p:nvPr/>
        </p:nvSpPr>
        <p:spPr>
          <a:xfrm>
            <a:off x="1911302" y="4755911"/>
            <a:ext cx="8534400" cy="103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975" tIns="0" rIns="0" bIns="0" anchor="t" anchorCtr="0">
            <a:spAutoFit/>
          </a:bodyPr>
          <a:lstStyle/>
          <a:p>
            <a:pPr marL="0" marR="0" lvl="0" indent="0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Sustainability:</a:t>
            </a:r>
            <a:r>
              <a:rPr lang="en-US" sz="2400" b="0" i="0" u="none" strike="noStrike" cap="none" dirty="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 Reducing reliance on rare Iridium-based catalysts.</a:t>
            </a:r>
            <a:endParaRPr sz="2000" dirty="0"/>
          </a:p>
        </p:txBody>
      </p:sp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B837FE62-1C64-5E34-3F4B-B0F6F133EE72}"/>
              </a:ext>
            </a:extLst>
          </p:cNvPr>
          <p:cNvCxnSpPr/>
          <p:nvPr/>
        </p:nvCxnSpPr>
        <p:spPr>
          <a:xfrm>
            <a:off x="1423545" y="1611848"/>
            <a:ext cx="0" cy="4305192"/>
          </a:xfrm>
          <a:prstGeom prst="line">
            <a:avLst/>
          </a:prstGeom>
          <a:ln>
            <a:solidFill>
              <a:srgbClr val="78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椭圆 2">
            <a:extLst>
              <a:ext uri="{FF2B5EF4-FFF2-40B4-BE49-F238E27FC236}">
                <a16:creationId xmlns:a16="http://schemas.microsoft.com/office/drawing/2014/main" id="{0242A21A-5DEC-A703-BDCD-57C847C75434}"/>
              </a:ext>
            </a:extLst>
          </p:cNvPr>
          <p:cNvSpPr/>
          <p:nvPr/>
        </p:nvSpPr>
        <p:spPr>
          <a:xfrm>
            <a:off x="1321945" y="5171375"/>
            <a:ext cx="203200" cy="203200"/>
          </a:xfrm>
          <a:prstGeom prst="ellipse">
            <a:avLst/>
          </a:prstGeom>
          <a:solidFill>
            <a:srgbClr val="78BFBF"/>
          </a:solidFill>
          <a:ln w="19050">
            <a:solidFill>
              <a:schemeClr val="accent1">
                <a:lumMod val="0"/>
                <a:lumOff val="100000"/>
              </a:schemeClr>
            </a:solidFill>
          </a:ln>
          <a:effectLst>
            <a:outerShdw blurRad="165100" dist="76200" dir="5400000" rotWithShape="0">
              <a:srgbClr val="78BFBF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40058580-75A9-6079-BBDD-F6D618D1BE77}"/>
              </a:ext>
            </a:extLst>
          </p:cNvPr>
          <p:cNvSpPr/>
          <p:nvPr/>
        </p:nvSpPr>
        <p:spPr>
          <a:xfrm>
            <a:off x="1321945" y="3662843"/>
            <a:ext cx="203200" cy="203200"/>
          </a:xfrm>
          <a:prstGeom prst="ellipse">
            <a:avLst/>
          </a:prstGeom>
          <a:solidFill>
            <a:srgbClr val="78BFBF"/>
          </a:solidFill>
          <a:ln w="19050">
            <a:solidFill>
              <a:schemeClr val="accent1">
                <a:lumMod val="0"/>
                <a:lumOff val="100000"/>
              </a:schemeClr>
            </a:solidFill>
          </a:ln>
          <a:effectLst>
            <a:outerShdw blurRad="165100" dist="76200" dir="5400000" rotWithShape="0">
              <a:srgbClr val="78BFBF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8A73AAEE-CBC7-86C7-3524-9B81F3FD1FB3}"/>
              </a:ext>
            </a:extLst>
          </p:cNvPr>
          <p:cNvSpPr/>
          <p:nvPr/>
        </p:nvSpPr>
        <p:spPr>
          <a:xfrm>
            <a:off x="1321945" y="2154312"/>
            <a:ext cx="203200" cy="203200"/>
          </a:xfrm>
          <a:prstGeom prst="ellipse">
            <a:avLst/>
          </a:prstGeom>
          <a:solidFill>
            <a:srgbClr val="78BFBF"/>
          </a:solidFill>
          <a:ln w="19050">
            <a:solidFill>
              <a:schemeClr val="accent1">
                <a:lumMod val="0"/>
                <a:lumOff val="100000"/>
              </a:schemeClr>
            </a:solidFill>
          </a:ln>
          <a:effectLst>
            <a:outerShdw blurRad="165100" dist="76200" dir="5400000" rotWithShape="0">
              <a:srgbClr val="78BFBF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4"/>
          <p:cNvSpPr txBox="1"/>
          <p:nvPr/>
        </p:nvSpPr>
        <p:spPr>
          <a:xfrm>
            <a:off x="3505676" y="2221794"/>
            <a:ext cx="5180647" cy="104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 dirty="0">
                <a:solidFill>
                  <a:srgbClr val="008489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Questions?</a:t>
            </a:r>
            <a:endParaRPr dirty="0"/>
          </a:p>
        </p:txBody>
      </p:sp>
      <p:sp>
        <p:nvSpPr>
          <p:cNvPr id="237" name="Google Shape;237;p24"/>
          <p:cNvSpPr txBox="1"/>
          <p:nvPr/>
        </p:nvSpPr>
        <p:spPr>
          <a:xfrm>
            <a:off x="3865985" y="1769362"/>
            <a:ext cx="4460028" cy="452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008489"/>
                </a:solidFill>
                <a:latin typeface="Public Sans"/>
                <a:ea typeface="Public Sans"/>
                <a:cs typeface="Public Sans"/>
                <a:sym typeface="Public Sans"/>
              </a:rPr>
              <a:t>Thank you for your attention.</a:t>
            </a:r>
            <a:endParaRPr dirty="0"/>
          </a:p>
        </p:txBody>
      </p:sp>
      <p:sp>
        <p:nvSpPr>
          <p:cNvPr id="238" name="Google Shape;238;p24"/>
          <p:cNvSpPr txBox="1"/>
          <p:nvPr/>
        </p:nvSpPr>
        <p:spPr>
          <a:xfrm>
            <a:off x="4262437" y="4179540"/>
            <a:ext cx="366712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i="0" u="none" strike="noStrike" cap="none" dirty="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Lin Zhuocheng</a:t>
            </a:r>
            <a:endParaRPr sz="180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5"/>
          <p:cNvSpPr txBox="1"/>
          <p:nvPr/>
        </p:nvSpPr>
        <p:spPr>
          <a:xfrm>
            <a:off x="762000" y="571500"/>
            <a:ext cx="11201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02B49"/>
                </a:solidFill>
                <a:latin typeface="Public Sans"/>
                <a:ea typeface="Public Sans"/>
                <a:cs typeface="Public Sans"/>
                <a:sym typeface="Public Sans"/>
              </a:rPr>
              <a:t>IMAGE SOURCES</a:t>
            </a:r>
            <a:endParaRPr/>
          </a:p>
        </p:txBody>
      </p:sp>
      <p:sp>
        <p:nvSpPr>
          <p:cNvPr id="245" name="Google Shape;245;p25"/>
          <p:cNvSpPr/>
          <p:nvPr/>
        </p:nvSpPr>
        <p:spPr>
          <a:xfrm>
            <a:off x="762000" y="1095375"/>
            <a:ext cx="10668000" cy="28575"/>
          </a:xfrm>
          <a:prstGeom prst="rect">
            <a:avLst/>
          </a:prstGeom>
          <a:solidFill>
            <a:srgbClr val="00848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5"/>
          <p:cNvSpPr/>
          <p:nvPr/>
        </p:nvSpPr>
        <p:spPr>
          <a:xfrm>
            <a:off x="762000" y="2226319"/>
            <a:ext cx="106680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5"/>
          <p:cNvSpPr/>
          <p:nvPr/>
        </p:nvSpPr>
        <p:spPr>
          <a:xfrm>
            <a:off x="762000" y="2997844"/>
            <a:ext cx="10668000" cy="902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5"/>
          <p:cNvSpPr/>
          <p:nvPr/>
        </p:nvSpPr>
        <p:spPr>
          <a:xfrm>
            <a:off x="762000" y="3900487"/>
            <a:ext cx="106680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5"/>
          <p:cNvSpPr/>
          <p:nvPr/>
        </p:nvSpPr>
        <p:spPr>
          <a:xfrm>
            <a:off x="762000" y="2988319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5"/>
          <p:cNvSpPr/>
          <p:nvPr/>
        </p:nvSpPr>
        <p:spPr>
          <a:xfrm>
            <a:off x="762000" y="2988319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5"/>
          <p:cNvSpPr/>
          <p:nvPr/>
        </p:nvSpPr>
        <p:spPr>
          <a:xfrm>
            <a:off x="762000" y="3890962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5"/>
          <p:cNvSpPr/>
          <p:nvPr/>
        </p:nvSpPr>
        <p:spPr>
          <a:xfrm>
            <a:off x="762000" y="3890962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5"/>
          <p:cNvSpPr/>
          <p:nvPr/>
        </p:nvSpPr>
        <p:spPr>
          <a:xfrm>
            <a:off x="762000" y="4662487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5"/>
          <p:cNvSpPr/>
          <p:nvPr/>
        </p:nvSpPr>
        <p:spPr>
          <a:xfrm>
            <a:off x="762000" y="4662487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5" name="Google Shape;255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36919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5"/>
          <p:cNvSpPr txBox="1"/>
          <p:nvPr/>
        </p:nvSpPr>
        <p:spPr>
          <a:xfrm>
            <a:off x="1857375" y="2390179"/>
            <a:ext cx="95726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 dirty="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https://energynow.com/wp-content/uploads/The-Growth-of-Wind-and-Solar-ENERGYminute-1024x1024.png</a:t>
            </a:r>
            <a:endParaRPr dirty="0"/>
          </a:p>
        </p:txBody>
      </p:sp>
      <p:sp>
        <p:nvSpPr>
          <p:cNvPr id="257" name="Google Shape;257;p25"/>
          <p:cNvSpPr txBox="1"/>
          <p:nvPr/>
        </p:nvSpPr>
        <p:spPr>
          <a:xfrm>
            <a:off x="1857375" y="2611040"/>
            <a:ext cx="957262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Public Sans"/>
                <a:ea typeface="Public Sans"/>
                <a:cs typeface="Public Sans"/>
                <a:sym typeface="Public Sans"/>
              </a:rPr>
              <a:t>energynow.com</a:t>
            </a:r>
            <a:endParaRPr/>
          </a:p>
        </p:txBody>
      </p:sp>
      <p:pic>
        <p:nvPicPr>
          <p:cNvPr id="258" name="Google Shape;258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320620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5"/>
          <p:cNvSpPr txBox="1"/>
          <p:nvPr/>
        </p:nvSpPr>
        <p:spPr>
          <a:xfrm>
            <a:off x="1857375" y="3140719"/>
            <a:ext cx="9572625" cy="346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https://media.istockphoto.com/id/615395438/photo/chemical-beaker-with-permanganate-dissolved-in-water.jpg?s=612x612&amp;w=0&amp;k=20&amp;c=7p1TXbo3ZHy8nLkVBT2qus2sz_B_7GZFGQAqlxhPTbE=</a:t>
            </a:r>
            <a:endParaRPr/>
          </a:p>
        </p:txBody>
      </p:sp>
      <p:sp>
        <p:nvSpPr>
          <p:cNvPr id="260" name="Google Shape;260;p25"/>
          <p:cNvSpPr txBox="1"/>
          <p:nvPr/>
        </p:nvSpPr>
        <p:spPr>
          <a:xfrm>
            <a:off x="1857375" y="3534816"/>
            <a:ext cx="957262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Public Sans"/>
                <a:ea typeface="Public Sans"/>
                <a:cs typeface="Public Sans"/>
                <a:sym typeface="Public Sans"/>
              </a:rPr>
              <a:t>www.istockphoto.com</a:t>
            </a:r>
            <a:endParaRPr/>
          </a:p>
        </p:txBody>
      </p:sp>
      <p:pic>
        <p:nvPicPr>
          <p:cNvPr id="261" name="Google Shape;261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0" y="404336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5"/>
          <p:cNvSpPr txBox="1"/>
          <p:nvPr/>
        </p:nvSpPr>
        <p:spPr>
          <a:xfrm>
            <a:off x="1857375" y="4064347"/>
            <a:ext cx="95726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https://www.priyamstudycentre.com/wp-content/uploads/2023/12/Water-Electrolysis-process-definition-and-applications-to-produce-hydrogen-and-oxygen.png</a:t>
            </a:r>
            <a:endParaRPr/>
          </a:p>
        </p:txBody>
      </p:sp>
      <p:sp>
        <p:nvSpPr>
          <p:cNvPr id="263" name="Google Shape;263;p25"/>
          <p:cNvSpPr txBox="1"/>
          <p:nvPr/>
        </p:nvSpPr>
        <p:spPr>
          <a:xfrm>
            <a:off x="1857375" y="4285208"/>
            <a:ext cx="957262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Public Sans"/>
                <a:ea typeface="Public Sans"/>
                <a:cs typeface="Public Sans"/>
                <a:sym typeface="Public Sans"/>
              </a:rPr>
              <a:t>www.priyamstudycentre.com</a:t>
            </a:r>
            <a:endParaRPr/>
          </a:p>
        </p:txBody>
      </p:sp>
      <p:pic>
        <p:nvPicPr>
          <p:cNvPr id="264" name="Google Shape;264;p2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2000" y="4880371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5"/>
          <p:cNvSpPr txBox="1"/>
          <p:nvPr/>
        </p:nvSpPr>
        <p:spPr>
          <a:xfrm>
            <a:off x="1857375" y="4814887"/>
            <a:ext cx="9572625" cy="346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https://images-provider.frontiersin.org/api/ipx/w=1200&amp;f=png/https://www.frontiersin.org/files/Articles/929532/fpls-13-929532-HTML/image_m/fpls-13-929532-g001.jpg</a:t>
            </a:r>
            <a:endParaRPr/>
          </a:p>
        </p:txBody>
      </p:sp>
      <p:sp>
        <p:nvSpPr>
          <p:cNvPr id="266" name="Google Shape;266;p25"/>
          <p:cNvSpPr txBox="1"/>
          <p:nvPr/>
        </p:nvSpPr>
        <p:spPr>
          <a:xfrm>
            <a:off x="1857375" y="5208984"/>
            <a:ext cx="957262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Public Sans"/>
                <a:ea typeface="Public Sans"/>
                <a:cs typeface="Public Sans"/>
                <a:sym typeface="Public Sans"/>
              </a:rPr>
              <a:t>www.frontiersin.org</a:t>
            </a:r>
            <a:endParaRPr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-SUITE_ISPRING_PLAYERS_CUSTOMIZATION_2" val="{&quot;universal&quot;:{&quot;skinSettings&quot;:{&quot;borderRadius&quot;:10,&quot;colors&quot;:{&quot;asideBackground&quot;:{&quot;color&quot;:&quot;#EFF1F2&quot;,&quot;opacity&quot;:1,&quot;type&quot;:&quot;SOLID&quot;},&quot;asideElementBackgroundActive&quot;:{&quot;color&quot;:&quot;#D5D9DB&quot;,&quot;opacity&quot;:1,&quot;type&quot;:&quot;SOLID&quot;},&quot;asideElementBackgroundHover&quot;:{&quot;color&quot;:&quot;#DDE2E5&quot;,&quot;opacity&quot;:1,&quot;type&quot;:&quot;SOLID&quot;},&quot;asideElementText&quot;:{&quot;color&quot;:&quot;#34383D&quot;,&quot;opacity&quot;:1,&quot;type&quot;:&quot;SOLID&quot;},&quot;asideElementTextActive&quot;:{&quot;color&quot;:&quot;#42484E&quot;,&quot;opacity&quot;:1,&quot;type&quot;:&quot;SOLID&quot;},&quot;asideElementTextHover&quot;:{&quot;color&quot;:&quot;#42484E&quot;,&quot;opacity&quot;:1,&quot;type&quot;:&quot;SOLID&quot;},&quot;asideLogoBackground&quot;:{&quot;color&quot;:&quot;#EFF1F2&quot;,&quot;opacity&quot;:1,&quot;type&quot;:&quot;SOLID&quot;},&quot;pageBackground&quot;:{&quot;color&quot;:&quot;#DCDEE0&quot;,&quot;opacity&quot;:1,&quot;type&quot;:&quot;SOLID&quot;},&quot;playerBackground&quot;:{&quot;color&quot;:&quot;#FFFFFF&quot;,&quot;opacity&quot;:1,&quot;type&quot;:&quot;SOLID&quot;},&quot;playerText&quot;:{&quot;color&quot;:&quot;#616870&quot;,&quot;opacity&quot;:1,&quot;type&quot;:&quot;SOLID&quot;},&quot;primaryButtonBackground&quot;:{&quot;color&quot;:&quot;#439431&quot;,&quot;opacity&quot;:1,&quot;type&quot;:&quot;SOLID&quot;},&quot;primaryButtonBackgroundHover&quot;:{&quot;color&quot;:&quot;#387C28&quot;,&quot;opacity&quot;:1,&quot;type&quot;:&quot;SOLID&quot;},&quot;primaryButtonBorder&quot;:{&quot;color&quot;:&quot;#439431&quot;,&quot;opacity&quot;:1,&quot;type&quot;:&quot;SOLID&quot;},&quot;primaryButtonBorderHover&quot;:{&quot;color&quot;:&quot;#387C28&quot;,&quot;opacity&quot;:1,&quot;type&quot;:&quot;SOLID&quot;},&quot;primaryButtonText&quot;:{&quot;color&quot;:&quot;#FFFFFF&quot;,&quot;opacity&quot;:1,&quot;type&quot;:&quot;SOLID&quot;},&quot;primaryButtonTextHover&quot;:{&quot;color&quot;:&quot;#FFFFFF&quot;,&quot;opacity&quot;:1,&quot;type&quot;:&quot;SOLID&quot;},&quot;secondaryButtonBackground&quot;:{&quot;color&quot;:&quot;#FFFFFF&quot;,&quot;opacity&quot;:1,&quot;type&quot;:&quot;SOLID&quot;},&quot;secondaryButtonBackgroundHover&quot;:{&quot;color&quot;:&quot;#F2F2F2&quot;,&quot;opacity&quot;:1,&quot;type&quot;:&quot;SOLID&quot;},&quot;secondaryButtonBorder&quot;:{&quot;color&quot;:&quot;#E6E6E6&quot;,&quot;opacity&quot;:1,&quot;type&quot;:&quot;SOLID&quot;},&quot;secondaryButtonBorderHover&quot;:{&quot;color&quot;:&quot;#E5E5E5&quot;,&quot;opacity&quot;:1,&quot;type&quot;:&quot;SOLID&quot;},&quot;secondaryButtonText&quot;:{&quot;color&quot;:&quot;#616870&quot;,&quot;opacity&quot;:1,&quot;type&quot;:&quot;SOLID&quot;},&quot;secondaryButtonTextHover&quot;:{&quot;color&quot;:&quot;#439431&quot;,&quot;opacity&quot;:1,&quot;type&quot;:&quot;SOLID&quot;}},&quot;controlPanel&quot;:{&quot;navigationMode&quot;:&quot;bySlides&quot;,&quot;progressBar&quot;:{&quot;enabled&quot;:true,&quot;mode&quot;:&quot;presentationTimeline&quot;,&quot;showLabels&quot;:true,&quot;visible&quot;:true},&quot;showCCButton&quot;:false,&quot;showNextButton&quot;:true,&quot;showOutline&quot;:true,&quot;showPlayPause&quot;:false,&quot;showPlaybackRateButton&quot;:false,&quot;showPrevButton&quot;:true,&quot;showRewind&quot;:false,&quot;showSlideNumbers&quot;:true,&quot;showSlideOnlyButton&quot;:false,&quot;showSubtitlesButton&quot;:false,&quot;showTimer&quot;:false,&quot;showVolumeControl&quot;:false,&quot;visible&quot;:true},&quot;fontFamily&quot;:&quot;Arial&quot;,&quot;miniskinCustomizationEnabled&quot;:true,&quot;outlinePanel&quot;:{&quot;highlightViewedEntries&quot;:false,&quot;multilevel&quot;:true,&quot;numberEntries&quot;:true,&quot;search&quot;:true,&quot;thumbnails&quot;:true},&quot;rotatePromptEnabled&quot;:false,&quot;sidePanel&quot;:{&quot;showAtLeft&quot;:false,&quot;showLogo&quot;:false,&quot;showNotes&quot;:false,&quot;showOutline&quot;:false,&quot;showPresenterInfo&quot;:false,&quot;showPresenterVideo&quot;:false,&quot;visible&quot;:false},&quot;titlePanel&quot;:{&quot;buttons&quot;:[&quot;attachments&quot;,&quot;markerTools&quot;],&quot;buttonsAtLeft&quot;:false,&quot;courseTitleVisible&quot;:true,&quot;showLogo&quot;:false,&quot;visible&quot;:false},&quot;version&quot;:&quot;1.3&quot;},&quot;skinMessages&quot;:{&quot;PB_ACCESSIBLE_ARIA_LABEL_BACK_TO_BEGIN&quot;:&quot;转到幻灯片的开头&quot;,&quot;PB_ACCESSIBLE_ARIA_LABEL_BOTTOM_PANEL&quot;:&quot;底部栏&quot;,&quot;PB_ACCESSIBLE_ARIA_LABEL_NAVIGATION_BUTTONS&quot;:&quot;导览按钮&quot;,&quot;PB_ACCESSIBLE_ARIA_LABEL_SETTINGS&quot;:&quot;辅助功能设置&quot;,&quot;PB_ACCESSIBLE_ARIA_LABEL_SLIDE&quot;:&quot;幻灯片&quot;,&quot;PB_ACCESSIBLE_ARIA_LABEL_TOP_PANEL&quot;:&quot;顶部栏&quot;,&quot;PB_ACCESSIBLE_AUDIO_NARRATION_LABEL&quot;:&quot;声音旁白&quot;,&quot;PB_ACCESSIBLE_AUDIO_SUBTITLES_LABEL&quot;:&quot;隐藏字幕&quot;,&quot;PB_ACCESSIBLE_NAVIGATION_NEXT_BUTTON&quot;:&quot;下一页&quot;,&quot;PB_ACCESSIBLE_NAVIGATION_PREV_BUTTON&quot;:&quot;上一页&quot;,&quot;PB_ACCESSIBLE_SKIN_ENABLE_ACCESSIBILITY_MODE&quot;:&quot;启用屏幕阅读器模式&quot;,&quot;PB_ACCESSIBLE_SKIN_ENABLE_NORMAL_MODE&quot;:&quot;不启用屏幕阅读器模式&quot;,&quot;PB_ACCESSIBLE_SKIN_PRESENTER_PHOTO&quot;:&quot;演讲者照片&quot;,&quot;PB_ACCESSIBLE_SLIDE_N_OF_COUNT&quot;:&quot;幻灯片%SLIDE_NUMBER%\/%TOTAL_SLIDES%&quot;,&quot;PB_ACCESSIBLE_VIDEO_NARRATION_LABEL&quot;:&quot;视频旁白&quot;,&quot;PB_ACCESSIBLE_WATERMARK_SKIN_CREATED_WITH&quot;:&quot;使用iSpring评估版创建&quot;,&quot;PB_ATTACHMENT_DOCUMENT_SUBTITLE&quot;:&quot;文档&quot;,&quot;PB_ATTACHMENT_FILE_SUBTITLE&quot;:&quot;文件&quot;,&quot;PB_ATTACHMENT_IMAGE_SUBTITLE&quot;:&quot;图片&quot;,&quot;PB_ATTACHMENT_LINK_SUBTITLE&quot;:&quot;链接&quot;,&quot;PB_ATTACHMENT_VIDEO_SUBTITLE&quot;:&quot;视频&quot;,&quot;PB_BACK_TO_APP_BUTTON_LABEL&quot;:&quot;返回&quot;,&quot;PB_CONTROL_PANEL_CLOSED_CAPTIONS&quot;:&quot;备注&quot;,&quot;PB_CONTROL_PANEL_EXIT_FULL_SCREEN&quot;:&quot;退出全屏&quot;,&quot;PB_CONTROL_PANEL_FULL_SCREEN&quot;:&quot;全屏&quot;,&quot;PB_CONTROL_PANEL_NEXT&quot;:&quot;下一页&quot;,&quot;PB_CONTROL_PANEL_OUTLINE&quot;:&quot;大纲&quot;,&quot;PB_CONTROL_PANEL_PREV&quot;:&quot;&quot;,&quot;PB_CONTROL_PANEL_REPLAY&quot;:&quot;回放&quot;,&quot;PB_CONTROL_PANEL_SLIDE_COUNTER&quot;:&quot;%SLIDE_NUMBER%\/%TOTAL_SLIDES%&quot;,&quot;PB_CONTROL_PANEL_SUBTITLES&quot;:&quot;隐藏字幕&quot;,&quot;PB_CONTROL_PANEL_VOLUME_CONTROL&quot;:&quot;音量&quot;,&quot;PB_CURRENT_SLIDE_IS_NOT_COMPLETED&quot;:&quot;您必须观看全部幻灯片才能继续&quot;,&quot;PB_DOMAIN_RESTRICTION&quot;:&quot;很抱歉，内容作者已禁止在此域共享演示文稿。&quot;,&quot;PB_DRAWING_TOOLS_END_DRAWING&quot;:&quot;结束绘图&quot;,&quot;PB_DRAWING_TOOLS_ERASER&quot;:&quot;橡皮擦&quot;,&quot;PB_DRAWING_TOOLS_ERASE_ALL&quot;:&quot;全部删除&quot;,&quot;PB_DRAWING_TOOLS_HIGHLIGHTER&quot;:&quot;萤光笔&quot;,&quot;PB_DRAWING_TOOLS_PEN&quot;:&quot;笔&quot;,&quot;PB_ENTER_PASSWORD&quot;:&quot;输入密码以查看此演示文稿。&quot;,&quot;PB_INCORRECT_PASSWORD&quot;:&quot;密码不正确&quot;,&quot;PB_INTERACTION_SLIDE_WINDOW_TEXT&quot;:&quot;你必须完成互动模组才能离开此幻灯片。&quot;,&quot;PB_MESSAGE_BOX_NO&quot;:&quot;取消&quot;,&quot;PB_MESSAGE_BOX_OK&quot;:&quot;确定&quot;,&quot;PB_MESSAGE_BOX_YES&quot;:&quot;确认&quot;,&quot;PB_NAVIGATION_IS_RESTRICTED&quot;:&quot;您只能浏览之前已看过的幻灯片&quot;,&quot;PB_NAVIGATION_IS_SEQUENTIAL&quot;:&quot;您必须依照顺序浏览幻灯片&quot;,&quot;PB_PLAYBACK_RATE_MENU_CAPTION&quot;:&quot;速度&quot;,&quot;PB_POPUP_ROTATE_SCREEN_PROMPT_LANDSCAPE&quot;:&quot;请将设备旋转至横向&quot;,&quot;PB_POPUP_ROTATE_SCREEN_PROMPT_PORTRAIT&quot;:&quot;请将设备旋转至纵向&quot;,&quot;PB_PRECEDING_QUIZ_FAILED_WINDOW_TEXT&quot;:&quot;您不被允许前进，因为您未通过在幻灯片 %SLIDE_INDEX%.上的测验&quot;,&quot;PB_PRECEDING_QUIZ_NOT_COMPLETED_WINDOW_TEXT&quot;:&quot;您必须先尝试在幻灯片 %SLIDE_INDEX% 上的测验才能继续&quot;,&quot;PB_PRECEDING_QUIZ_NOT_PASSED_WINDOW_TEXT&quot;:&quot;您必须通过在幻灯片%SLIDE_INDEX% 上的测验才能继续前进&quot;,&quot;PB_PRECEDING_SCENARIO_FAILED_WINDOW_TEXT&quot;:&quot;您无法继续前进，因为您未能完成第 %SLIDE_INDEX% 张幻灯片的模拟情境对话&quot;,&quot;PB_PRECEDING_SCENARIO_NOT_COMPLETED_WINDOW_TEXT&quot;:&quot;您必须先尝试在第 %SLIDE_INDEX% 张幻灯片上的模拟情境对话后才能继续前进&quot;,&quot;PB_PRECEDING_SCENARIO_NOT_PASSED_WINDOW_TEXT&quot;:&quot;您必须先完成在第 %SLIDE_INDEX% 张幻灯片上的模拟情境对话后才能继续前进&quot;,&quot;PB_PRESENTER_COLLAPSE_BIO&quot;:&quot;显示更少&quot;,&quot;PB_PRESENTER_EMAIL&quot;:&quot;电子邮件&quot;,&quot;PB_PRESENTER_EXPAND_BIO&quot;:&quot;显示更多&quot;,&quot;PB_PRESENTER_NO_INFO&quot;:&quot;无演示者信息&quot;,&quot;PB_PRESENTER_WEBSITE&quot;:&quot;网站&quot;,&quot;PB_QUIZ_SLIDE_WINDOW_TEXT&quot;:&quot;您必须完成测验才能离开此张幻灯片&quot;,&quot;PB_RATE_MENU_CAPTION&quot;:&quot;速度&quot;,&quot;PB_RATE_MENU_DEFAULT_RATE&quot;:&quot;普通&quot;,&quot;PB_RESUME_PRESENTATION_WINDOW_TEXT&quot;:&quot;您想从之前中断的地方继续吗？&quot;,&quot;PB_SCENARIO_SLIDE_WINDOW_TEXT&quot;:&quot;您必须先完成模拟情境对话才能离开此幻灯片。&quot;,&quot;PB_SEARCH_CANCEL&quot;:&quot;取消&quot;,&quot;PB_SEARCH_NO_RESULTS_LABEL&quot;:&quot;未找到匹配项。&quot;,&quot;PB_SEARCH_PANEL_DEFAULT_TEXT&quot;:&quot;搜索…&quot;,&quot;PB_SEARCH_RESULTS_LABEL&quot;:&quot;搜索结果&quot;,&quot;PB_SEARCH_RESULT_IN_NOTES&quot;:&quot;在备注中&quot;,&quot;PB_SEARCH_RESULT_IN_TEXT_LABEL&quot;:&quot;在幻灯片中&quot;,&quot;PB_SUBTITLES_MENU_CAPTION&quot;:&quot;字幕&quot;,&quot;PB_SUBTITLES_OFF&quot;:&quot;关&quot;,&quot;PB_TAB_NOTES_LABEL&quot;:&quot;备注&quot;,&quot;PB_TAB_OUTLINE_LABEL&quot;:&quot;幻灯片&quot;,&quot;PB_TIME_RESTRICTION&quot;:&quot;很抱歉，内容作者暂时禁止查看演示文稿。&quot;,&quot;PB_TITLE_PANEL_ATTACHMENTS&quot;:&quot;参考资料&quot;,&quot;PB_TITLE_PANEL_MARKER_TOOLS&quot;:&quot;绘图&quot;,&quot;PB_TITLE_PANEL_NOTES&quot;:&quot;备注&quot;,&quot;PB_TITLE_PANEL_OUTLINE&quot;:&quot;大纲&quot;,&quot;PB_TITLE_PANEL_PRESENTER_INFO&quot;:&quot;演示者信息&quot;,&quot;PB_TREE_CONTROL_LOADING&quot;:&quot;载入中…&quot;,&quot;PB_VIDEO_WINDOW_NO_VIDEO_LABEL&quot;:&quot;没有视频&quot;},&quot;playbackAndNavigationSettings&quot;:{&quot;autoStart&quot;:true,&quot;saveAnimationStates&quot;:true,&quot;loopPresentation&quot;:false,&quot;autoPlayAnimations&quot;:false,&quot;autoPlayAnimationsTime&quot;:1,&quot;navigationType&quot;:&quot;FREE&quot;,&quot;resumeMode&quot;:&quot;PROMPT&quot;,&quot;enableKeyboardNavigation&quot;:true},&quot;keyboardSettings&quot;:&quot;&quot;,&quot;skinVersion&quot;:4,&quot;skinCompatibleVersion&quot;:0,&quot;publishSettings&quot;:{&quot;backgroundColor&quot;:&quot;#DCDEE0&quot;,&quot;playerDimensions&quot;:{&quot;height&quot;:92,&quot;width&quot;:16},&quot;playerModule&quot;:&quot;UniversalHtml&quot;,&quot;presentationContent&quot;:{&quot;metadata&quot;:{&quot;references&quot;:false,&quot;texts&quot;:[&quot;DT_SLIDE_TITLE&quot;,&quot;DT_SLIDE_NOTES_TEXT&quot;,&quot;DT_SLIDE_TEXT&quot;,&quot;DT_HYPERLINK_TOOLTIP&quot;]},&quot;resources&quot;:{&quot;attachments&quot;:false,&quot;fonts&quot;:[{&quot;charsets&quot;:{&quot;dynamicFormatted&quot;:[&quot;DCT_INTERACTIVITY_TEXT&quot;,&quot;DCT_INTERACTIVITY_SEMIBOLD_TEXT&quot;],&quot;dynamicPlain&quot;:[&quot;DCT_SLIDE_TITLE&quot;,&quot;DCT_SLIDE_NOTES_TEXT&quot;,&quot;DCT_SLIDE_TEXT&quot;,&quot;DCT_HYPERLINK_TOOLTIP&quot;],&quot;static&quot;:[&quot;1234567890&quot;,&quot;幻灯片&quot;,&quot;搜索…&quot;,&quot;在幻灯片中&quot;,&quot;搜索结果&quot;,&quot;未找到匹配项。&quot;,&quot;在备注中&quot;,&quot;取消&quot;,&quot;下一页&quot;,&quot;%SLIDE_NUMBER%\/%TOTAL_SLIDES%&quot;,&quot;确认&quot;,&quot;确定&quot;,&quot;您想从之前中断的地方继续吗？&quot;,&quot;请将设备旋转至纵向&quot;,&quot;请将设备旋转至横向&quot;,&quot;您必须观看全部幻灯片才能继续&quot;,&quot;您只能浏览之前已看过的幻灯片&quot;,&quot;您必须依照顺序浏览幻灯片&quot;,&quot;您必须完成测验才能离开此张幻灯片&quot;,&quot;您必须通过在幻灯片%SLIDE_INDEX% 上的测验才能继续前进&quot;,&quot;您必须先尝试在幻灯片 %SLIDE_INDEX% 上的测验才能继续&quot;,&quot;您不被允许前进，因为您未通过在幻灯片 %SLIDE_INDEX%.上的测验&quot;,&quot;你必须完成互动模组才能离开此幻灯片。&quot;,&quot;您必须先完成模拟情境对话才能离开此幻灯片。&quot;,&quot;您必须先完成在第 %SLIDE_INDEX% 张幻灯片上的模拟情境对话后才能继续前进&quot;,&quot;您必须先尝试在第 %SLIDE_INDEX% 张幻灯片上的模拟情境对话后才能继续前进&quot;,&quot;您无法继续前进，因为您未能完成第 %SLIDE_INDEX% 张幻灯片的模拟情境对话&quot;,&quot;输入密码以查看此演示文稿。&quot;,&quot;密码不正确&quot;,&quot;很抱歉，内容作者已禁止在此域共享演示文稿。&quot;,&quot;很抱歉，内容作者暂时禁止查看演示文稿。&quot;,&quot;返回&quot;]},&quot;embedName&quot;:&quot;PFn&quot;,&quot;fontFamily&quot;:&quot;Arial&quot;,&quot;isBold&quot;:false,&quot;isItalic&quot;:false,&quot;isSemibold&quot;:false,&quot;substituteFontFamily&quot;:&quot;Arial&quot;},{&quot;charsets&quot;:{&quot;dynamicFormatted&quot;:[&quot;DCT_INTERACTIVITY_TEXT&quot;,&quot;DCT_INTERACTIVITY_SEMIBOLD_TEXT&quot;],&quot;dynamicPlain&quot;:[&quot;DCT_SLIDE_TITLE&quot;,&quot;DCT_SLIDE_NOTES_TEXT&quot;,&quot;DCT_SLIDE_TEXT&quot;,&quot;DCT_HYPERLINK_TOOLTIP&quot;],&quot;static&quot;:[&quot;1234567890&quot;,&quot;幻灯片&quot;,&quot;搜索…&quot;,&quot;在幻灯片中&quot;,&quot;搜索结果&quot;,&quot;未找到匹配项。&quot;,&quot;在备注中&quot;,&quot;取消&quot;,&quot;下一页&quot;,&quot;%SLIDE_NUMBER%\/%TOTAL_SLIDES%&quot;,&quot;确认&quot;,&quot;确定&quot;,&quot;您想从之前中断的地方继续吗？&quot;,&quot;请将设备旋转至纵向&quot;,&quot;请将设备旋转至横向&quot;,&quot;您必须观看全部幻灯片才能继续&quot;,&quot;您只能浏览之前已看过的幻灯片&quot;,&quot;您必须依照顺序浏览幻灯片&quot;,&quot;您必须完成测验才能离开此张幻灯片&quot;,&quot;您必须通过在幻灯片%SLIDE_INDEX% 上的测验才能继续前进&quot;,&quot;您必须先尝试在幻灯片 %SLIDE_INDEX% 上的测验才能继续&quot;,&quot;您不被允许前进，因为您未通过在幻灯片 %SLIDE_INDEX%.上的测验&quot;,&quot;你必须完成互动模组才能离开此幻灯片。&quot;,&quot;您必须先完成模拟情境对话才能离开此幻灯片。&quot;,&quot;您必须先完成在第 %SLIDE_INDEX% 张幻灯片上的模拟情境对话后才能继续前进&quot;,&quot;您必须先尝试在第 %SLIDE_INDEX% 张幻灯片上的模拟情境对话后才能继续前进&quot;,&quot;您无法继续前进，因为您未能完成第 %SLIDE_INDEX% 张幻灯片的模拟情境对话&quot;,&quot;输入密码以查看此演示文稿。&quot;,&quot;密码不正确&quot;,&quot;很抱歉，内容作者已禁止在此域共享演示文稿。&quot;,&quot;很抱歉，内容作者暂时禁止查看演示文稿。&quot;,&quot;返回&quot;]},&quot;embedName&quot;:&quot;PFnb&quot;,&quot;fontFamily&quot;:&quot;Arial&quot;,&quot;isBold&quot;:true,&quot;isItalic&quot;:false,&quot;isSemibold&quot;:false,&quot;substituteFontFamily&quot;:&quot;Arial&quot;},{&quot;charsets&quot;:{&quot;dynamicFormatted&quot;:[&quot;DCT_INTERACTIVITY_TEXT&quot;,&quot;DCT_INTERACTIVITY_SEMIBOLD_TEXT&quot;],&quot;dynamicPlain&quot;:[&quot;DCT_SLIDE_TITLE&quot;,&quot;DCT_SLIDE_NOTES_TEXT&quot;,&quot;DCT_SLIDE_TEXT&quot;,&quot;DCT_HYPERLINK_TOOLTIP&quot;],&quot;static&quot;:[&quot;1234567890&quot;,&quot;幻灯片&quot;,&quot;搜索…&quot;,&quot;在幻灯片中&quot;,&quot;搜索结果&quot;,&quot;未找到匹配项。&quot;,&quot;在备注中&quot;,&quot;取消&quot;,&quot;下一页&quot;,&quot;%SLIDE_NUMBER%\/%TOTAL_SLIDES%&quot;,&quot;确认&quot;,&quot;确定&quot;,&quot;您想从之前中断的地方继续吗？&quot;,&quot;请将设备旋转至纵向&quot;,&quot;请将设备旋转至横向&quot;,&quot;您必须观看全部幻灯片才能继续&quot;,&quot;您只能浏览之前已看过的幻灯片&quot;,&quot;您必须依照顺序浏览幻灯片&quot;,&quot;您必须完成测验才能离开此张幻灯片&quot;,&quot;您必须通过在幻灯片%SLIDE_INDEX% 上的测验才能继续前进&quot;,&quot;您必须先尝试在幻灯片 %SLIDE_INDEX% 上的测验才能继续&quot;,&quot;您不被允许前进，因为您未通过在幻灯片 %SLIDE_INDEX%.上的测验&quot;,&quot;你必须完成互动模组才能离开此幻灯片。&quot;,&quot;您必须先完成模拟情境对话才能离开此幻灯片。&quot;,&quot;您必须先完成在第 %SLIDE_INDEX% 张幻灯片上的模拟情境对话后才能继续前进&quot;,&quot;您必须先尝试在第 %SLIDE_INDEX% 张幻灯片上的模拟情境对话后才能继续前进&quot;,&quot;您无法继续前进，因为您未能完成第 %SLIDE_INDEX% 张幻灯片的模拟情境对话&quot;,&quot;输入密码以查看此演示文稿。&quot;,&quot;密码不正确&quot;,&quot;很抱歉，内容作者已禁止在此域共享演示文稿。&quot;,&quot;很抱歉，内容作者暂时禁止查看演示文稿。&quot;,&quot;返回&quot;]},&quot;embedName&quot;:&quot;PFni&quot;,&quot;fontFamily&quot;:&quot;Arial&quot;,&quot;isBold&quot;:false,&quot;isItalic&quot;:true,&quot;isSemibold&quot;:false,&quot;substituteFontFamily&quot;:&quot;Arial&quot;},{&quot;charsets&quot;:{&quot;dynamicFormatted&quot;:[&quot;DCT_INTERACTIVITY_TEXT&quot;,&quot;DCT_INTERACTIVITY_SEMIBOLD_TEXT&quot;],&quot;dynamicPlain&quot;:[&quot;DCT_SLIDE_TITLE&quot;,&quot;DCT_SLIDE_NOTES_TEXT&quot;,&quot;DCT_SLIDE_TEXT&quot;,&quot;DCT_HYPERLINK_TOOLTIP&quot;],&quot;static&quot;:[&quot;1234567890&quot;,&quot;幻灯片&quot;,&quot;搜索…&quot;,&quot;在幻灯片中&quot;,&quot;搜索结果&quot;,&quot;未找到匹配项。&quot;,&quot;在备注中&quot;,&quot;取消&quot;,&quot;下一页&quot;,&quot;%SLIDE_NUMBER%\/%TOTAL_SLIDES%&quot;,&quot;确认&quot;,&quot;确定&quot;,&quot;您想从之前中断的地方继续吗？&quot;,&quot;请将设备旋转至纵向&quot;,&quot;请将设备旋转至横向&quot;,&quot;您必须观看全部幻灯片才能继续&quot;,&quot;您只能浏览之前已看过的幻灯片&quot;,&quot;您必须依照顺序浏览幻灯片&quot;,&quot;您必须完成测验才能离开此张幻灯片&quot;,&quot;您必须通过在幻灯片%SLIDE_INDEX% 上的测验才能继续前进&quot;,&quot;您必须先尝试在幻灯片 %SLIDE_INDEX% 上的测验才能继续&quot;,&quot;您不被允许前进，因为您未通过在幻灯片 %SLIDE_INDEX%.上的测验&quot;,&quot;你必须完成互动模组才能离开此幻灯片。&quot;,&quot;您必须先完成模拟情境对话才能离开此幻灯片。&quot;,&quot;您必须先完成在第 %SLIDE_INDEX% 张幻灯片上的模拟情境对话后才能继续前进&quot;,&quot;您必须先尝试在第 %SLIDE_INDEX% 张幻灯片上的模拟情境对话后才能继续前进&quot;,&quot;您无法继续前进，因为您未能完成第 %SLIDE_INDEX% 张幻灯片的模拟情境对话&quot;,&quot;输入密码以查看此演示文稿。&quot;,&quot;密码不正确&quot;,&quot;很抱歉，内容作者已禁止在此域共享演示文稿。&quot;,&quot;很抱歉，内容作者暂时禁止查看演示文稿。&quot;,&quot;返回&quot;]},&quot;embedName&quot;:&quot;PFnbi&quot;,&quot;fontFamily&quot;:&quot;Arial&quot;,&quot;isBold&quot;:true,&quot;isItalic&quot;:true,&quot;isSemibold&quot;:false,&quot;substituteFontFamily&quot;:&quot;Arial&quot;},{&quot;charsets&quot;:{&quot;dynamicFormatted&quot;:[&quot;DCT_INTERACTIVITY_TEXT&quot;,&quot;DCT_INTERACTIVITY_SEMIBOLD_TEXT&quot;],&quot;dynamicPlain&quot;:[&quot;DCT_SLIDE_TITLE&quot;,&quot;DCT_SLIDE_NOTES_TEXT&quot;,&quot;DCT_SLIDE_TEXT&quot;,&quot;DCT_HYPERLINK_TOOLTIP&quot;],&quot;static&quot;:[&quot;1234567890&quot;,&quot;幻灯片&quot;,&quot;搜索…&quot;,&quot;在幻灯片中&quot;,&quot;搜索结果&quot;,&quot;未找到匹配项。&quot;,&quot;在备注中&quot;,&quot;取消&quot;,&quot;下一页&quot;,&quot;%SLIDE_NUMBER%\/%TOTAL_SLIDES%&quot;,&quot;确认&quot;,&quot;确定&quot;,&quot;您想从之前中断的地方继续吗？&quot;,&quot;请将设备旋转至纵向&quot;,&quot;请将设备旋转至横向&quot;,&quot;您必须观看全部幻灯片才能继续&quot;,&quot;您只能浏览之前已看过的幻灯片&quot;,&quot;您必须依照顺序浏览幻灯片&quot;,&quot;您必须完成测验才能离开此张幻灯片&quot;,&quot;您必须通过在幻灯片%SLIDE_INDEX% 上的测验才能继续前进&quot;,&quot;您必须先尝试在幻灯片 %SLIDE_INDEX% 上的测验才能继续&quot;,&quot;您不被允许前进，因为您未通过在幻灯片 %SLIDE_INDEX%.上的测验&quot;,&quot;你必须完成互动模组才能离开此幻灯片。&quot;,&quot;您必须先完成模拟情境对话才能离开此幻灯片。&quot;,&quot;您必须先完成在第 %SLIDE_INDEX% 张幻灯片上的模拟情境对话后才能继续前进&quot;,&quot;您必须先尝试在第 %SLIDE_INDEX% 张幻灯片上的模拟情境对话后才能继续前进&quot;,&quot;您无法继续前进，因为您未能完成第 %SLIDE_INDEX% 张幻灯片的模拟情境对话&quot;,&quot;输入密码以查看此演示文稿。&quot;,&quot;密码不正确&quot;,&quot;很抱歉，内容作者已禁止在此域共享演示文稿。&quot;,&quot;很抱歉，内容作者暂时禁止查看演示文稿。&quot;,&quot;返回&quot;]},&quot;embedName&quot;:&quot;PFnsb&quot;,&quot;fontFamily&quot;:&quot;Arial&quot;,&quot;isBold&quot;:false,&quot;isItalic&quot;:false,&quot;isSemibold&quot;:true,&quot;substituteFontFamily&quot;:&quot;Arial&quot;},{&quot;charsets&quot;:{&quot;dynamicFormatted&quot;:[&quot;DCT_INTERACTIVITY_TEXT&quot;,&quot;DCT_INTERACTIVITY_SEMIBOLD_TEXT&quot;],&quot;dynamicPlain&quot;:[&quot;DCT_SLIDE_TITLE&quot;,&quot;DCT_SLIDE_NOTES_TEXT&quot;,&quot;DCT_SLIDE_TEXT&quot;,&quot;DCT_HYPERLINK_TOOLTIP&quot;],&quot;static&quot;:[&quot;1234567890&quot;,&quot;幻灯片&quot;,&quot;搜索…&quot;,&quot;在幻灯片中&quot;,&quot;搜索结果&quot;,&quot;未找到匹配项。&quot;,&quot;在备注中&quot;,&quot;取消&quot;,&quot;下一页&quot;,&quot;%SLIDE_NUMBER%\/%TOTAL_SLIDES%&quot;,&quot;确认&quot;,&quot;确定&quot;,&quot;您想从之前中断的地方继续吗？&quot;,&quot;请将设备旋转至纵向&quot;,&quot;请将设备旋转至横向&quot;,&quot;您必须观看全部幻灯片才能继续&quot;,&quot;您只能浏览之前已看过的幻灯片&quot;,&quot;您必须依照顺序浏览幻灯片&quot;,&quot;您必须完成测验才能离开此张幻灯片&quot;,&quot;您必须通过在幻灯片%SLIDE_INDEX% 上的测验才能继续前进&quot;,&quot;您必须先尝试在幻灯片 %SLIDE_INDEX% 上的测验才能继续&quot;,&quot;您不被允许前进，因为您未通过在幻灯片 %SLIDE_INDEX%.上的测验&quot;,&quot;你必须完成互动模组才能离开此幻灯片。&quot;,&quot;您必须先完成模拟情境对话才能离开此幻灯片。&quot;,&quot;您必须先完成在第 %SLIDE_INDEX% 张幻灯片上的模拟情境对话后才能继续前进&quot;,&quot;您必须先尝试在第 %SLIDE_INDEX% 张幻灯片上的模拟情境对话后才能继续前进&quot;,&quot;您无法继续前进，因为您未能完成第 %SLIDE_INDEX% 张幻灯片的模拟情境对话&quot;,&quot;输入密码以查看此演示文稿。&quot;,&quot;密码不正确&quot;,&quot;很抱歉，内容作者已禁止在此域共享演示文稿。&quot;,&quot;很抱歉，内容作者暂时禁止查看演示文稿。&quot;,&quot;返回&quot;]},&quot;embedName&quot;:&quot;PFnsbi&quot;,&quot;fontFamily&quot;:&quot;Arial&quot;,&quot;isBold&quot;:false,&quot;isItalic&quot;:true,&quot;isSemibold&quot;:true,&quot;substituteFontFamily&quot;:&quot;Arial&quot;}],&quot;interactivity&quot;:{&quot;fullSupport&quot;:true},&quot;slideThumbnails&quot;:{&quot;enlargeToFit&quot;:false,&quot;height&quot;:59,&quot;jpegQuality&quot;:100,&quot;keepAspectRatio&quot;:true,&quot;width&quot;:78}}}},&quot;ceipData&quot;:{&quot;enableMiniSkinCustomization&quot;:true,&quot;playerLayout&quot;:&quot;custom&quot;,&quot;playerLayoutFooter&quot;:&quot;outline,slideNumber,goToPrev,goToNext&quot;,&quot;playerLayoutHeader&quot;:&quot;&quot;,&quot;playerLayoutHeaderButtonsPosition&quot;:&quot;&quot;,&quot;playerLayoutOutline&quot;:&quot;enableSearch,showThumbnails,showSlideNumber,enableMultilevel&quot;,&quot;playerLayoutProgress&quot;:&quot;enabledNavigation,showLabels&quot;,&quot;playerLayoutProgressMode&quot;:&quot;presentationTimeline&quot;,&quot;playerLayoutSidebar&quot;:&quot;&quot;,&quot;playerLayoutSidebarPosition&quot;:&quot;&quot;,&quot;playerMessages&quot;:&quot;builtin.zhcn&quot;,&quot;playerNavigationAutoStart&quot;:true,&quot;playerNavigationEnableKeyboardNavigation&quot;:true,&quot;playerNavigationMode&quot;:&quot;bySlides&quot;,&quot;playerNavigationOnRestart&quot;:&quot;prompt&quot;,&quot;playerNavigationSaveAnimationStates&quot;:true,&quot;playerNavigationType&quot;:&quot;free&quot;,&quot;playerTheme&quot;:&quot;custom&quot;,&quot;playerThemeBorderRadius&quot;:10,&quot;playerThemeColorScheme&quot;:&quot;builtin.lightGreen&quot;,&quot;playerThemeFont&quot;:&quot;Arial&quot;}}}"/>
  <p:tag name="ISPRING-SUITE_ISPRING_CURRENT_PLAYER_ID" val="universal"/>
  <p:tag name="ISPRING_PRESENTATION_COURSE_TITLE" val="Self-Healing Electrocatalysis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F9C72F01-42E4-4F54-B202-7AFA1455AF15}:25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D3B9783F-F386-4A36-8C18-A854C25346E2}:27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977C1B59-6ACB-48E2-BDBA-D56755C4D85D}:257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DA8CDFFF-9B5B-4FFD-9A00-F6A4BF1B75F3}:269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3BA14EA5-F71C-4D9E-A8F9-606829B046BC}:258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4F3B8CA2-782B-4EDB-B3DF-4C6880C486BE}:26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E2DD6B4E-DA95-4E1B-8AA1-B73587E3BB14}:26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E76BBEAE-92C1-4AB3-847D-FC7976F8F702}:263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13AB726C-9DA6-4125-91E3-419B19D44B94}:27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10B5273D-377C-4C22-ABC9-41B5C1BB6B35}:27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3170C344-262D-49D5-9FB2-D9DD699F2726}:264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A1B2D066-AD44-4FD4-97CA-B67ABB0AAA24}:265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ECF7B068-1EF5-46DE-98B4-6BD1C8549E92}:266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85171FE9-1550-4F0F-A8C0-278E25B31B8E}:267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D2679180-5A9D-4F65-B3BF-44B8BF8DC756}:268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</TotalTime>
  <Words>475</Words>
  <Application>Microsoft Office PowerPoint</Application>
  <PresentationFormat>宽屏</PresentationFormat>
  <Paragraphs>69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2" baseType="lpstr">
      <vt:lpstr>Open Serif Semibold</vt:lpstr>
      <vt:lpstr>Playfair Display</vt:lpstr>
      <vt:lpstr>Arial Narrow</vt:lpstr>
      <vt:lpstr>Calibri</vt:lpstr>
      <vt:lpstr>Arial</vt:lpstr>
      <vt:lpstr>Public Sans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Cheuksing Lam</dc:creator>
  <cp:lastModifiedBy>Cheuksing Lam</cp:lastModifiedBy>
  <cp:revision>29</cp:revision>
  <dcterms:modified xsi:type="dcterms:W3CDTF">2026-05-18T07:25:53Z</dcterms:modified>
</cp:coreProperties>
</file>